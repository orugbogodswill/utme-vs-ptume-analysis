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DM Sans" pitchFamily="2" charset="0"/>
      <p:regular r:id="rId19"/>
    </p:embeddedFont>
    <p:embeddedFont>
      <p:font typeface="DM Sans Bold" panose="020B0604020202020204" charset="0"/>
      <p:regular r:id="rId20"/>
    </p:embeddedFont>
    <p:embeddedFont>
      <p:font typeface="DM Sans Bold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0" d="100"/>
          <a:sy n="30" d="100"/>
        </p:scale>
        <p:origin x="1460" y="5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1602" y="1028700"/>
            <a:ext cx="84268" cy="84268"/>
            <a:chOff x="0" y="0"/>
            <a:chExt cx="67656" cy="67656"/>
          </a:xfrm>
        </p:grpSpPr>
        <p:sp>
          <p:nvSpPr>
            <p:cNvPr id="3" name="Freeform 3"/>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4" name="TextBox 4"/>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5" name="Group 5"/>
          <p:cNvGrpSpPr/>
          <p:nvPr/>
        </p:nvGrpSpPr>
        <p:grpSpPr>
          <a:xfrm>
            <a:off x="481602" y="1160917"/>
            <a:ext cx="84268" cy="84268"/>
            <a:chOff x="0" y="0"/>
            <a:chExt cx="67656" cy="67656"/>
          </a:xfrm>
        </p:grpSpPr>
        <p:sp>
          <p:nvSpPr>
            <p:cNvPr id="6" name="Freeform 6"/>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7" name="TextBox 7"/>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8" name="Group 8"/>
          <p:cNvGrpSpPr/>
          <p:nvPr/>
        </p:nvGrpSpPr>
        <p:grpSpPr>
          <a:xfrm>
            <a:off x="612263" y="1028700"/>
            <a:ext cx="84268" cy="84268"/>
            <a:chOff x="0" y="0"/>
            <a:chExt cx="67656" cy="67656"/>
          </a:xfrm>
        </p:grpSpPr>
        <p:sp>
          <p:nvSpPr>
            <p:cNvPr id="9" name="Freeform 9"/>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10" name="TextBox 10"/>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11" name="Group 11"/>
          <p:cNvGrpSpPr/>
          <p:nvPr/>
        </p:nvGrpSpPr>
        <p:grpSpPr>
          <a:xfrm>
            <a:off x="612263" y="1160917"/>
            <a:ext cx="84268" cy="84268"/>
            <a:chOff x="0" y="0"/>
            <a:chExt cx="67656" cy="67656"/>
          </a:xfrm>
        </p:grpSpPr>
        <p:sp>
          <p:nvSpPr>
            <p:cNvPr id="12" name="Freeform 12"/>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13" name="TextBox 13"/>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16" name="Group 16"/>
          <p:cNvGrpSpPr/>
          <p:nvPr/>
        </p:nvGrpSpPr>
        <p:grpSpPr>
          <a:xfrm>
            <a:off x="11963400" y="4935475"/>
            <a:ext cx="724751" cy="72475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B349"/>
            </a:solidFill>
          </p:spPr>
        </p:sp>
        <p:sp>
          <p:nvSpPr>
            <p:cNvPr id="18" name="TextBox 18"/>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9" name="Group 19"/>
          <p:cNvGrpSpPr/>
          <p:nvPr/>
        </p:nvGrpSpPr>
        <p:grpSpPr>
          <a:xfrm>
            <a:off x="413183" y="7008967"/>
            <a:ext cx="136837" cy="13683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1" name="TextBox 21"/>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22" name="Group 22"/>
          <p:cNvGrpSpPr/>
          <p:nvPr/>
        </p:nvGrpSpPr>
        <p:grpSpPr>
          <a:xfrm>
            <a:off x="413183" y="6712385"/>
            <a:ext cx="136837" cy="13683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4" name="TextBox 2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25" name="Group 25"/>
          <p:cNvGrpSpPr/>
          <p:nvPr/>
        </p:nvGrpSpPr>
        <p:grpSpPr>
          <a:xfrm>
            <a:off x="413183" y="6415803"/>
            <a:ext cx="136837" cy="13683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7" name="TextBox 2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sp>
        <p:nvSpPr>
          <p:cNvPr id="28" name="TextBox 28"/>
          <p:cNvSpPr txBox="1"/>
          <p:nvPr/>
        </p:nvSpPr>
        <p:spPr>
          <a:xfrm>
            <a:off x="1685920" y="6088526"/>
            <a:ext cx="11627419" cy="1079376"/>
          </a:xfrm>
          <a:prstGeom prst="rect">
            <a:avLst/>
          </a:prstGeom>
        </p:spPr>
        <p:txBody>
          <a:bodyPr lIns="0" tIns="0" rIns="0" bIns="0" rtlCol="0" anchor="t">
            <a:spAutoFit/>
          </a:bodyPr>
          <a:lstStyle/>
          <a:p>
            <a:pPr algn="l">
              <a:lnSpc>
                <a:spcPts val="8316"/>
              </a:lnSpc>
            </a:pPr>
            <a:r>
              <a:rPr lang="en-US" sz="7700" b="1">
                <a:solidFill>
                  <a:srgbClr val="000000"/>
                </a:solidFill>
                <a:latin typeface="DM Sans Bold"/>
                <a:ea typeface="DM Sans Bold"/>
                <a:cs typeface="DM Sans Bold"/>
                <a:sym typeface="DM Sans Bold"/>
              </a:rPr>
              <a:t>UTME VS PTUME EXAM</a:t>
            </a:r>
          </a:p>
        </p:txBody>
      </p:sp>
      <p:sp>
        <p:nvSpPr>
          <p:cNvPr id="29" name="TextBox 29"/>
          <p:cNvSpPr txBox="1"/>
          <p:nvPr/>
        </p:nvSpPr>
        <p:spPr>
          <a:xfrm>
            <a:off x="1780434" y="8680155"/>
            <a:ext cx="4481534" cy="256667"/>
          </a:xfrm>
          <a:prstGeom prst="rect">
            <a:avLst/>
          </a:prstGeom>
        </p:spPr>
        <p:txBody>
          <a:bodyPr lIns="0" tIns="0" rIns="0" bIns="0" rtlCol="0" anchor="t">
            <a:spAutoFit/>
          </a:bodyPr>
          <a:lstStyle/>
          <a:p>
            <a:pPr algn="l">
              <a:lnSpc>
                <a:spcPts val="2127"/>
              </a:lnSpc>
            </a:pPr>
            <a:r>
              <a:rPr lang="en-US" sz="1519">
                <a:solidFill>
                  <a:srgbClr val="000000"/>
                </a:solidFill>
                <a:latin typeface="DM Sans"/>
                <a:ea typeface="DM Sans"/>
                <a:cs typeface="DM Sans"/>
                <a:sym typeface="DM Sans"/>
              </a:rPr>
              <a:t>Date: December 2025</a:t>
            </a:r>
          </a:p>
        </p:txBody>
      </p:sp>
      <p:grpSp>
        <p:nvGrpSpPr>
          <p:cNvPr id="30" name="Group 30"/>
          <p:cNvGrpSpPr/>
          <p:nvPr/>
        </p:nvGrpSpPr>
        <p:grpSpPr>
          <a:xfrm>
            <a:off x="413183" y="6712385"/>
            <a:ext cx="136837" cy="13683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32" name="TextBox 32"/>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33" name="Group 33"/>
          <p:cNvGrpSpPr/>
          <p:nvPr/>
        </p:nvGrpSpPr>
        <p:grpSpPr>
          <a:xfrm>
            <a:off x="413183" y="6415803"/>
            <a:ext cx="136837" cy="13683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35" name="TextBox 35"/>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sp>
        <p:nvSpPr>
          <p:cNvPr id="36" name="TextBox 36"/>
          <p:cNvSpPr txBox="1"/>
          <p:nvPr/>
        </p:nvSpPr>
        <p:spPr>
          <a:xfrm rot="-5400000">
            <a:off x="-1449732" y="3898408"/>
            <a:ext cx="3582818" cy="416687"/>
          </a:xfrm>
          <a:prstGeom prst="rect">
            <a:avLst/>
          </a:prstGeom>
        </p:spPr>
        <p:txBody>
          <a:bodyPr lIns="0" tIns="0" rIns="0" bIns="0" rtlCol="0" anchor="t">
            <a:spAutoFit/>
          </a:bodyPr>
          <a:lstStyle/>
          <a:p>
            <a:pPr algn="l">
              <a:lnSpc>
                <a:spcPts val="1708"/>
              </a:lnSpc>
            </a:pPr>
            <a:endParaRPr/>
          </a:p>
          <a:p>
            <a:pPr algn="l">
              <a:lnSpc>
                <a:spcPts val="1708"/>
              </a:lnSpc>
            </a:pPr>
            <a:r>
              <a:rPr lang="en-US" sz="1220">
                <a:solidFill>
                  <a:srgbClr val="000000"/>
                </a:solidFill>
                <a:latin typeface="DM Sans"/>
                <a:ea typeface="DM Sans"/>
                <a:cs typeface="DM Sans"/>
                <a:sym typeface="DM Sans"/>
              </a:rPr>
              <a:t>UTME VS PUTME </a:t>
            </a:r>
          </a:p>
        </p:txBody>
      </p:sp>
      <p:sp>
        <p:nvSpPr>
          <p:cNvPr id="37" name="TextBox 37"/>
          <p:cNvSpPr txBox="1"/>
          <p:nvPr/>
        </p:nvSpPr>
        <p:spPr>
          <a:xfrm>
            <a:off x="1780434" y="7222004"/>
            <a:ext cx="11725843" cy="715933"/>
          </a:xfrm>
          <a:prstGeom prst="rect">
            <a:avLst/>
          </a:prstGeom>
        </p:spPr>
        <p:txBody>
          <a:bodyPr lIns="0" tIns="0" rIns="0" bIns="0" rtlCol="0" anchor="t">
            <a:spAutoFit/>
          </a:bodyPr>
          <a:lstStyle/>
          <a:p>
            <a:pPr algn="l">
              <a:lnSpc>
                <a:spcPts val="2810"/>
              </a:lnSpc>
            </a:pPr>
            <a:r>
              <a:rPr lang="en-US" sz="2602">
                <a:solidFill>
                  <a:srgbClr val="000000"/>
                </a:solidFill>
                <a:latin typeface="DM Sans"/>
                <a:ea typeface="DM Sans"/>
                <a:cs typeface="DM Sans"/>
                <a:sym typeface="DM Sans"/>
              </a:rPr>
              <a:t>A comprehensive data analysis of students who participated in both exams, based on dataset of student scores.</a:t>
            </a:r>
          </a:p>
        </p:txBody>
      </p:sp>
      <p:sp>
        <p:nvSpPr>
          <p:cNvPr id="38" name="TextBox 38"/>
          <p:cNvSpPr txBox="1"/>
          <p:nvPr/>
        </p:nvSpPr>
        <p:spPr>
          <a:xfrm>
            <a:off x="1780434" y="8433103"/>
            <a:ext cx="1715918" cy="207137"/>
          </a:xfrm>
          <a:prstGeom prst="rect">
            <a:avLst/>
          </a:prstGeom>
        </p:spPr>
        <p:txBody>
          <a:bodyPr lIns="0" tIns="0" rIns="0" bIns="0" rtlCol="0" anchor="t">
            <a:spAutoFit/>
          </a:bodyPr>
          <a:lstStyle/>
          <a:p>
            <a:pPr algn="l">
              <a:lnSpc>
                <a:spcPts val="1708"/>
              </a:lnSpc>
            </a:pPr>
            <a:r>
              <a:rPr lang="en-US" sz="1220">
                <a:solidFill>
                  <a:srgbClr val="000000"/>
                </a:solidFill>
                <a:latin typeface="DM Sans"/>
                <a:ea typeface="DM Sans"/>
                <a:cs typeface="DM Sans"/>
                <a:sym typeface="DM Sans"/>
              </a:rPr>
              <a:t>UTME VS PUTME </a:t>
            </a:r>
          </a:p>
        </p:txBody>
      </p:sp>
      <p:sp>
        <p:nvSpPr>
          <p:cNvPr id="39" name="Freeform 39"/>
          <p:cNvSpPr/>
          <p:nvPr/>
        </p:nvSpPr>
        <p:spPr>
          <a:xfrm rot="2158881">
            <a:off x="1843428" y="2037937"/>
            <a:ext cx="2038323" cy="1994225"/>
          </a:xfrm>
          <a:custGeom>
            <a:avLst/>
            <a:gdLst/>
            <a:ahLst/>
            <a:cxnLst/>
            <a:rect l="l" t="t" r="r" b="b"/>
            <a:pathLst>
              <a:path w="2038323" h="1994225">
                <a:moveTo>
                  <a:pt x="0" y="0"/>
                </a:moveTo>
                <a:lnTo>
                  <a:pt x="2038324" y="0"/>
                </a:lnTo>
                <a:lnTo>
                  <a:pt x="2038324" y="1994225"/>
                </a:lnTo>
                <a:lnTo>
                  <a:pt x="0" y="1994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41" name="Picture 40">
            <a:extLst>
              <a:ext uri="{FF2B5EF4-FFF2-40B4-BE49-F238E27FC236}">
                <a16:creationId xmlns:a16="http://schemas.microsoft.com/office/drawing/2014/main" id="{D4C1987E-A46C-47B7-7046-8BC39E6C45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7600" y="598374"/>
            <a:ext cx="7010400" cy="3943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9"/>
          <p:cNvGrpSpPr/>
          <p:nvPr/>
        </p:nvGrpSpPr>
        <p:grpSpPr>
          <a:xfrm>
            <a:off x="11734800" y="3891229"/>
            <a:ext cx="2585088" cy="258508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31" name="TextBox 31"/>
            <p:cNvSpPr txBox="1"/>
            <p:nvPr/>
          </p:nvSpPr>
          <p:spPr>
            <a:xfrm>
              <a:off x="76200" y="-19050"/>
              <a:ext cx="660400" cy="755650"/>
            </a:xfrm>
            <a:prstGeom prst="rect">
              <a:avLst/>
            </a:prstGeom>
          </p:spPr>
          <p:txBody>
            <a:bodyPr lIns="32547" tIns="32547" rIns="32547" bIns="32547" rtlCol="0" anchor="ctr"/>
            <a:lstStyle/>
            <a:p>
              <a:pPr algn="ctr">
                <a:lnSpc>
                  <a:spcPts val="3401"/>
                </a:lnSpc>
              </a:pPr>
              <a:endParaRPr/>
            </a:p>
          </p:txBody>
        </p:sp>
      </p:grpSp>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0" y="1612067"/>
            <a:ext cx="8142136" cy="8674933"/>
            <a:chOff x="0" y="0"/>
            <a:chExt cx="10856181" cy="11566578"/>
          </a:xfrm>
        </p:grpSpPr>
        <p:pic>
          <p:nvPicPr>
            <p:cNvPr id="12" name="Picture 12"/>
            <p:cNvPicPr>
              <a:picLocks noChangeAspect="1"/>
            </p:cNvPicPr>
            <p:nvPr/>
          </p:nvPicPr>
          <p:blipFill>
            <a:blip r:embed="rId2"/>
            <a:srcRect l="3070" r="3070"/>
            <a:stretch>
              <a:fillRect/>
            </a:stretch>
          </p:blipFill>
          <p:spPr>
            <a:xfrm>
              <a:off x="0" y="0"/>
              <a:ext cx="10856181" cy="11566578"/>
            </a:xfrm>
            <a:prstGeom prst="rect">
              <a:avLst/>
            </a:prstGeom>
          </p:spPr>
        </p:pic>
      </p:grpSp>
      <p:sp>
        <p:nvSpPr>
          <p:cNvPr id="13" name="Freeform 13"/>
          <p:cNvSpPr/>
          <p:nvPr/>
        </p:nvSpPr>
        <p:spPr>
          <a:xfrm>
            <a:off x="0" y="1612067"/>
            <a:ext cx="4071068" cy="4071068"/>
          </a:xfrm>
          <a:custGeom>
            <a:avLst/>
            <a:gdLst/>
            <a:ahLst/>
            <a:cxnLst/>
            <a:rect l="l" t="t" r="r" b="b"/>
            <a:pathLst>
              <a:path w="4071068" h="4071068">
                <a:moveTo>
                  <a:pt x="0" y="0"/>
                </a:moveTo>
                <a:lnTo>
                  <a:pt x="4071068" y="0"/>
                </a:lnTo>
                <a:lnTo>
                  <a:pt x="4071068" y="4071068"/>
                </a:lnTo>
                <a:lnTo>
                  <a:pt x="0" y="40710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0" y="1598883"/>
            <a:ext cx="4071068" cy="4071068"/>
          </a:xfrm>
          <a:custGeom>
            <a:avLst/>
            <a:gdLst/>
            <a:ahLst/>
            <a:cxnLst/>
            <a:rect l="l" t="t" r="r" b="b"/>
            <a:pathLst>
              <a:path w="4071068" h="4071068">
                <a:moveTo>
                  <a:pt x="0" y="0"/>
                </a:moveTo>
                <a:lnTo>
                  <a:pt x="4071068" y="0"/>
                </a:lnTo>
                <a:lnTo>
                  <a:pt x="4071068" y="4071068"/>
                </a:lnTo>
                <a:lnTo>
                  <a:pt x="0" y="40710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5" name="Group 15"/>
          <p:cNvGrpSpPr/>
          <p:nvPr/>
        </p:nvGrpSpPr>
        <p:grpSpPr>
          <a:xfrm>
            <a:off x="8565448" y="2269292"/>
            <a:ext cx="771999" cy="771999"/>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17" name="Group 17"/>
          <p:cNvGrpSpPr/>
          <p:nvPr/>
        </p:nvGrpSpPr>
        <p:grpSpPr>
          <a:xfrm>
            <a:off x="8565448" y="3231791"/>
            <a:ext cx="771999" cy="771999"/>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19" name="Group 19"/>
          <p:cNvGrpSpPr/>
          <p:nvPr/>
        </p:nvGrpSpPr>
        <p:grpSpPr>
          <a:xfrm>
            <a:off x="8565448" y="5156789"/>
            <a:ext cx="771999" cy="771999"/>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21" name="Group 21"/>
          <p:cNvGrpSpPr/>
          <p:nvPr/>
        </p:nvGrpSpPr>
        <p:grpSpPr>
          <a:xfrm>
            <a:off x="8565448" y="4194290"/>
            <a:ext cx="771999" cy="771999"/>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23" name="Group 23"/>
          <p:cNvGrpSpPr/>
          <p:nvPr/>
        </p:nvGrpSpPr>
        <p:grpSpPr>
          <a:xfrm>
            <a:off x="8565448" y="6119535"/>
            <a:ext cx="771999" cy="771999"/>
            <a:chOff x="0" y="0"/>
            <a:chExt cx="6350000" cy="6350000"/>
          </a:xfrm>
        </p:grpSpPr>
        <p:sp>
          <p:nvSpPr>
            <p:cNvPr id="24" name="Freeform 2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25" name="Group 25"/>
          <p:cNvGrpSpPr/>
          <p:nvPr/>
        </p:nvGrpSpPr>
        <p:grpSpPr>
          <a:xfrm>
            <a:off x="8565448" y="7082034"/>
            <a:ext cx="771999" cy="771999"/>
            <a:chOff x="0" y="0"/>
            <a:chExt cx="6350000" cy="6350000"/>
          </a:xfrm>
        </p:grpSpPr>
        <p:sp>
          <p:nvSpPr>
            <p:cNvPr id="26" name="Freeform 2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id="27" name="Group 27"/>
          <p:cNvGrpSpPr/>
          <p:nvPr/>
        </p:nvGrpSpPr>
        <p:grpSpPr>
          <a:xfrm>
            <a:off x="8565448" y="8044533"/>
            <a:ext cx="771999" cy="771999"/>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id="32" name="TextBox 32"/>
          <p:cNvSpPr txBox="1"/>
          <p:nvPr/>
        </p:nvSpPr>
        <p:spPr>
          <a:xfrm>
            <a:off x="9870846" y="2109120"/>
            <a:ext cx="8204796" cy="6715760"/>
          </a:xfrm>
          <a:prstGeom prst="rect">
            <a:avLst/>
          </a:prstGeom>
        </p:spPr>
        <p:txBody>
          <a:bodyPr lIns="0" tIns="0" rIns="0" bIns="0" rtlCol="0" anchor="t">
            <a:spAutoFit/>
          </a:bodyPr>
          <a:lstStyle/>
          <a:p>
            <a:pPr algn="just">
              <a:lnSpc>
                <a:spcPts val="7719"/>
              </a:lnSpc>
            </a:pPr>
            <a:r>
              <a:rPr lang="en-US" sz="3999" b="1" u="none" strike="noStrike" spc="59" dirty="0">
                <a:solidFill>
                  <a:srgbClr val="000000"/>
                </a:solidFill>
                <a:latin typeface="DM Sans Bold"/>
                <a:ea typeface="DM Sans Bold"/>
                <a:cs typeface="DM Sans Bold"/>
                <a:sym typeface="DM Sans Bold"/>
              </a:rPr>
              <a:t>INTRODUCTON</a:t>
            </a:r>
          </a:p>
          <a:p>
            <a:pPr algn="just">
              <a:lnSpc>
                <a:spcPts val="7719"/>
              </a:lnSpc>
            </a:pPr>
            <a:r>
              <a:rPr lang="en-US" sz="3999" b="1" u="none" strike="noStrike" spc="59" dirty="0">
                <a:solidFill>
                  <a:srgbClr val="000000"/>
                </a:solidFill>
                <a:latin typeface="DM Sans Bold"/>
                <a:ea typeface="DM Sans Bold"/>
                <a:cs typeface="DM Sans Bold"/>
                <a:sym typeface="DM Sans Bold"/>
              </a:rPr>
              <a:t>OBJECTIVE &amp; QUESTIONS</a:t>
            </a:r>
          </a:p>
          <a:p>
            <a:pPr algn="just">
              <a:lnSpc>
                <a:spcPts val="7719"/>
              </a:lnSpc>
            </a:pPr>
            <a:r>
              <a:rPr lang="en-US" sz="3999" b="1" u="none" strike="noStrike" spc="59" dirty="0">
                <a:solidFill>
                  <a:srgbClr val="000000"/>
                </a:solidFill>
                <a:latin typeface="DM Sans Bold"/>
                <a:ea typeface="DM Sans Bold"/>
                <a:cs typeface="DM Sans Bold"/>
                <a:sym typeface="DM Sans Bold"/>
              </a:rPr>
              <a:t>METHOD &amp; METRIC</a:t>
            </a:r>
          </a:p>
          <a:p>
            <a:pPr algn="just">
              <a:lnSpc>
                <a:spcPts val="7719"/>
              </a:lnSpc>
            </a:pPr>
            <a:r>
              <a:rPr lang="en-US" sz="3999" b="1" u="none" strike="noStrike" spc="59" dirty="0">
                <a:solidFill>
                  <a:srgbClr val="000000"/>
                </a:solidFill>
                <a:latin typeface="DM Sans Bold"/>
                <a:ea typeface="DM Sans Bold"/>
                <a:cs typeface="DM Sans Bold"/>
                <a:sym typeface="DM Sans Bold"/>
              </a:rPr>
              <a:t>KEY RESULTS</a:t>
            </a:r>
          </a:p>
          <a:p>
            <a:pPr algn="just">
              <a:lnSpc>
                <a:spcPts val="7719"/>
              </a:lnSpc>
            </a:pPr>
            <a:r>
              <a:rPr lang="en-US" sz="3999" b="1" u="none" strike="noStrike" spc="59" dirty="0">
                <a:solidFill>
                  <a:srgbClr val="000000"/>
                </a:solidFill>
                <a:latin typeface="DM Sans Bold"/>
                <a:ea typeface="DM Sans Bold"/>
                <a:cs typeface="DM Sans Bold"/>
                <a:sym typeface="DM Sans Bold"/>
              </a:rPr>
              <a:t>SUSPICIOUS PERFOMANCE SPIKE</a:t>
            </a:r>
          </a:p>
          <a:p>
            <a:pPr algn="just">
              <a:lnSpc>
                <a:spcPts val="7719"/>
              </a:lnSpc>
            </a:pPr>
            <a:r>
              <a:rPr lang="en-US" sz="3999" b="1" u="none" strike="noStrike" spc="59" dirty="0">
                <a:solidFill>
                  <a:srgbClr val="000000"/>
                </a:solidFill>
                <a:latin typeface="DM Sans Bold"/>
                <a:ea typeface="DM Sans Bold"/>
                <a:cs typeface="DM Sans Bold"/>
                <a:sym typeface="DM Sans Bold"/>
              </a:rPr>
              <a:t>STATISTICAL INTERPRETATION</a:t>
            </a:r>
          </a:p>
          <a:p>
            <a:pPr algn="just">
              <a:lnSpc>
                <a:spcPts val="7719"/>
              </a:lnSpc>
            </a:pPr>
            <a:r>
              <a:rPr lang="en-US" sz="3999" b="1" u="none" strike="noStrike" spc="59" dirty="0">
                <a:solidFill>
                  <a:srgbClr val="000000"/>
                </a:solidFill>
                <a:latin typeface="DM Sans Bold"/>
                <a:ea typeface="DM Sans Bold"/>
                <a:cs typeface="DM Sans Bold"/>
                <a:sym typeface="DM Sans Bold"/>
              </a:rPr>
              <a:t>RECOMMENDATION</a:t>
            </a:r>
          </a:p>
        </p:txBody>
      </p:sp>
      <p:sp>
        <p:nvSpPr>
          <p:cNvPr id="33" name="TextBox 33"/>
          <p:cNvSpPr txBox="1"/>
          <p:nvPr/>
        </p:nvSpPr>
        <p:spPr>
          <a:xfrm>
            <a:off x="8678841" y="2378428"/>
            <a:ext cx="545211" cy="472821"/>
          </a:xfrm>
          <a:prstGeom prst="rect">
            <a:avLst/>
          </a:prstGeom>
        </p:spPr>
        <p:txBody>
          <a:bodyPr lIns="0" tIns="0" rIns="0" bIns="0" rtlCol="0" anchor="t">
            <a:spAutoFit/>
          </a:bodyPr>
          <a:lstStyle/>
          <a:p>
            <a:pPr algn="ctr">
              <a:lnSpc>
                <a:spcPts val="4032"/>
              </a:lnSpc>
            </a:pPr>
            <a:r>
              <a:rPr lang="en-US" sz="2400">
                <a:solidFill>
                  <a:srgbClr val="64B349"/>
                </a:solidFill>
                <a:latin typeface="DM Sans"/>
                <a:ea typeface="DM Sans"/>
                <a:cs typeface="DM Sans"/>
                <a:sym typeface="DM Sans"/>
              </a:rPr>
              <a:t>1</a:t>
            </a:r>
          </a:p>
        </p:txBody>
      </p:sp>
      <p:sp>
        <p:nvSpPr>
          <p:cNvPr id="34" name="TextBox 34"/>
          <p:cNvSpPr txBox="1"/>
          <p:nvPr/>
        </p:nvSpPr>
        <p:spPr>
          <a:xfrm>
            <a:off x="8678841" y="3340856"/>
            <a:ext cx="545211" cy="472821"/>
          </a:xfrm>
          <a:prstGeom prst="rect">
            <a:avLst/>
          </a:prstGeom>
        </p:spPr>
        <p:txBody>
          <a:bodyPr lIns="0" tIns="0" rIns="0" bIns="0" rtlCol="0" anchor="t">
            <a:spAutoFit/>
          </a:bodyPr>
          <a:lstStyle/>
          <a:p>
            <a:pPr marL="0" lvl="1" indent="0" algn="ctr">
              <a:lnSpc>
                <a:spcPts val="4032"/>
              </a:lnSpc>
            </a:pPr>
            <a:r>
              <a:rPr lang="en-US" sz="2400" u="none">
                <a:solidFill>
                  <a:srgbClr val="64B349"/>
                </a:solidFill>
                <a:latin typeface="DM Sans"/>
                <a:ea typeface="DM Sans"/>
                <a:cs typeface="DM Sans"/>
                <a:sym typeface="DM Sans"/>
              </a:rPr>
              <a:t>2</a:t>
            </a:r>
          </a:p>
        </p:txBody>
      </p:sp>
      <p:sp>
        <p:nvSpPr>
          <p:cNvPr id="35" name="TextBox 35"/>
          <p:cNvSpPr txBox="1"/>
          <p:nvPr/>
        </p:nvSpPr>
        <p:spPr>
          <a:xfrm>
            <a:off x="8678841" y="5265713"/>
            <a:ext cx="545211" cy="472821"/>
          </a:xfrm>
          <a:prstGeom prst="rect">
            <a:avLst/>
          </a:prstGeom>
        </p:spPr>
        <p:txBody>
          <a:bodyPr lIns="0" tIns="0" rIns="0" bIns="0" rtlCol="0" anchor="t">
            <a:spAutoFit/>
          </a:bodyPr>
          <a:lstStyle/>
          <a:p>
            <a:pPr marL="0" lvl="1" indent="0" algn="ctr">
              <a:lnSpc>
                <a:spcPts val="4032"/>
              </a:lnSpc>
            </a:pPr>
            <a:r>
              <a:rPr lang="en-US" sz="2400" u="none">
                <a:solidFill>
                  <a:srgbClr val="64B349"/>
                </a:solidFill>
                <a:latin typeface="DM Sans"/>
                <a:ea typeface="DM Sans"/>
                <a:cs typeface="DM Sans"/>
                <a:sym typeface="DM Sans"/>
              </a:rPr>
              <a:t>4</a:t>
            </a:r>
          </a:p>
        </p:txBody>
      </p:sp>
      <p:sp>
        <p:nvSpPr>
          <p:cNvPr id="36" name="TextBox 36"/>
          <p:cNvSpPr txBox="1"/>
          <p:nvPr/>
        </p:nvSpPr>
        <p:spPr>
          <a:xfrm>
            <a:off x="8678841" y="4303284"/>
            <a:ext cx="545211" cy="472821"/>
          </a:xfrm>
          <a:prstGeom prst="rect">
            <a:avLst/>
          </a:prstGeom>
        </p:spPr>
        <p:txBody>
          <a:bodyPr lIns="0" tIns="0" rIns="0" bIns="0" rtlCol="0" anchor="t">
            <a:spAutoFit/>
          </a:bodyPr>
          <a:lstStyle/>
          <a:p>
            <a:pPr marL="0" lvl="1" indent="0" algn="ctr">
              <a:lnSpc>
                <a:spcPts val="4032"/>
              </a:lnSpc>
            </a:pPr>
            <a:r>
              <a:rPr lang="en-US" sz="2400" u="none">
                <a:solidFill>
                  <a:srgbClr val="64B349"/>
                </a:solidFill>
                <a:latin typeface="DM Sans"/>
                <a:ea typeface="DM Sans"/>
                <a:cs typeface="DM Sans"/>
                <a:sym typeface="DM Sans"/>
              </a:rPr>
              <a:t>3</a:t>
            </a:r>
          </a:p>
        </p:txBody>
      </p:sp>
      <p:sp>
        <p:nvSpPr>
          <p:cNvPr id="37" name="TextBox 37"/>
          <p:cNvSpPr txBox="1"/>
          <p:nvPr/>
        </p:nvSpPr>
        <p:spPr>
          <a:xfrm>
            <a:off x="8678841" y="6228388"/>
            <a:ext cx="545211" cy="472821"/>
          </a:xfrm>
          <a:prstGeom prst="rect">
            <a:avLst/>
          </a:prstGeom>
        </p:spPr>
        <p:txBody>
          <a:bodyPr lIns="0" tIns="0" rIns="0" bIns="0" rtlCol="0" anchor="t">
            <a:spAutoFit/>
          </a:bodyPr>
          <a:lstStyle/>
          <a:p>
            <a:pPr marL="0" lvl="1" indent="0" algn="ctr">
              <a:lnSpc>
                <a:spcPts val="4032"/>
              </a:lnSpc>
            </a:pPr>
            <a:r>
              <a:rPr lang="en-US" sz="2400" u="none">
                <a:solidFill>
                  <a:srgbClr val="64B349"/>
                </a:solidFill>
                <a:latin typeface="DM Sans"/>
                <a:ea typeface="DM Sans"/>
                <a:cs typeface="DM Sans"/>
                <a:sym typeface="DM Sans"/>
              </a:rPr>
              <a:t>5</a:t>
            </a:r>
          </a:p>
        </p:txBody>
      </p:sp>
      <p:sp>
        <p:nvSpPr>
          <p:cNvPr id="38" name="TextBox 38"/>
          <p:cNvSpPr txBox="1"/>
          <p:nvPr/>
        </p:nvSpPr>
        <p:spPr>
          <a:xfrm>
            <a:off x="8678841" y="7190816"/>
            <a:ext cx="545211" cy="472821"/>
          </a:xfrm>
          <a:prstGeom prst="rect">
            <a:avLst/>
          </a:prstGeom>
        </p:spPr>
        <p:txBody>
          <a:bodyPr lIns="0" tIns="0" rIns="0" bIns="0" rtlCol="0" anchor="t">
            <a:spAutoFit/>
          </a:bodyPr>
          <a:lstStyle/>
          <a:p>
            <a:pPr marL="0" lvl="1" indent="0" algn="ctr">
              <a:lnSpc>
                <a:spcPts val="4032"/>
              </a:lnSpc>
            </a:pPr>
            <a:r>
              <a:rPr lang="en-US" sz="2400">
                <a:solidFill>
                  <a:srgbClr val="64B349"/>
                </a:solidFill>
                <a:latin typeface="DM Sans"/>
                <a:ea typeface="DM Sans"/>
                <a:cs typeface="DM Sans"/>
                <a:sym typeface="DM Sans"/>
              </a:rPr>
              <a:t>6</a:t>
            </a:r>
          </a:p>
        </p:txBody>
      </p:sp>
      <p:sp>
        <p:nvSpPr>
          <p:cNvPr id="39" name="TextBox 39"/>
          <p:cNvSpPr txBox="1"/>
          <p:nvPr/>
        </p:nvSpPr>
        <p:spPr>
          <a:xfrm>
            <a:off x="8678841" y="8153492"/>
            <a:ext cx="545211" cy="472821"/>
          </a:xfrm>
          <a:prstGeom prst="rect">
            <a:avLst/>
          </a:prstGeom>
        </p:spPr>
        <p:txBody>
          <a:bodyPr lIns="0" tIns="0" rIns="0" bIns="0" rtlCol="0" anchor="t">
            <a:spAutoFit/>
          </a:bodyPr>
          <a:lstStyle/>
          <a:p>
            <a:pPr marL="0" lvl="1" indent="0" algn="ctr">
              <a:lnSpc>
                <a:spcPts val="4032"/>
              </a:lnSpc>
            </a:pPr>
            <a:r>
              <a:rPr lang="en-US" sz="2400">
                <a:solidFill>
                  <a:srgbClr val="64B349"/>
                </a:solidFill>
                <a:latin typeface="DM Sans"/>
                <a:ea typeface="DM Sans"/>
                <a:cs typeface="DM Sans"/>
                <a:sym typeface="DM Sans"/>
              </a:rPr>
              <a:t>7</a:t>
            </a:r>
          </a:p>
        </p:txBody>
      </p:sp>
    </p:spTree>
  </p:cSld>
  <p:clrMapOvr>
    <a:masterClrMapping/>
  </p:clrMapOvr>
  <p:transition spd="slow">
    <p:cover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sp>
        <p:nvSpPr>
          <p:cNvPr id="11" name="TextBox 11"/>
          <p:cNvSpPr txBox="1"/>
          <p:nvPr/>
        </p:nvSpPr>
        <p:spPr>
          <a:xfrm>
            <a:off x="0" y="930041"/>
            <a:ext cx="18288000" cy="726948"/>
          </a:xfrm>
          <a:prstGeom prst="rect">
            <a:avLst/>
          </a:prstGeom>
        </p:spPr>
        <p:txBody>
          <a:bodyPr lIns="0" tIns="0" rIns="0" bIns="0" rtlCol="0" anchor="t">
            <a:spAutoFit/>
          </a:bodyPr>
          <a:lstStyle/>
          <a:p>
            <a:pPr algn="ctr">
              <a:lnSpc>
                <a:spcPts val="5615"/>
              </a:lnSpc>
            </a:pPr>
            <a:r>
              <a:rPr lang="en-US" sz="5199" b="1">
                <a:solidFill>
                  <a:srgbClr val="FF6937"/>
                </a:solidFill>
                <a:latin typeface="DM Sans Bold"/>
                <a:ea typeface="DM Sans Bold"/>
                <a:cs typeface="DM Sans Bold"/>
                <a:sym typeface="DM Sans Bold"/>
              </a:rPr>
              <a:t>INTRODUCTION</a:t>
            </a:r>
          </a:p>
        </p:txBody>
      </p:sp>
      <p:grpSp>
        <p:nvGrpSpPr>
          <p:cNvPr id="12" name="Group 12"/>
          <p:cNvGrpSpPr/>
          <p:nvPr/>
        </p:nvGrpSpPr>
        <p:grpSpPr>
          <a:xfrm rot="4271018">
            <a:off x="16726149" y="881478"/>
            <a:ext cx="1492396" cy="155102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B349"/>
            </a:solidFill>
            <a:ln w="12700">
              <a:solidFill>
                <a:srgbClr val="000000"/>
              </a:solidFill>
            </a:ln>
          </p:spPr>
        </p:sp>
      </p:grpSp>
      <p:grpSp>
        <p:nvGrpSpPr>
          <p:cNvPr id="17" name="Group 17"/>
          <p:cNvGrpSpPr/>
          <p:nvPr/>
        </p:nvGrpSpPr>
        <p:grpSpPr>
          <a:xfrm>
            <a:off x="1983519" y="9401106"/>
            <a:ext cx="464345" cy="46434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9" name="TextBox 19"/>
            <p:cNvSpPr txBox="1"/>
            <p:nvPr/>
          </p:nvSpPr>
          <p:spPr>
            <a:xfrm>
              <a:off x="76200" y="-19050"/>
              <a:ext cx="660400" cy="755650"/>
            </a:xfrm>
            <a:prstGeom prst="rect">
              <a:avLst/>
            </a:prstGeom>
          </p:spPr>
          <p:txBody>
            <a:bodyPr lIns="32547" tIns="32547" rIns="32547" bIns="32547" rtlCol="0" anchor="ctr"/>
            <a:lstStyle/>
            <a:p>
              <a:pPr algn="ctr">
                <a:lnSpc>
                  <a:spcPts val="3401"/>
                </a:lnSpc>
              </a:pPr>
              <a:endParaRPr/>
            </a:p>
          </p:txBody>
        </p:sp>
      </p:grpSp>
      <p:sp>
        <p:nvSpPr>
          <p:cNvPr id="20" name="TextBox 20"/>
          <p:cNvSpPr txBox="1"/>
          <p:nvPr/>
        </p:nvSpPr>
        <p:spPr>
          <a:xfrm>
            <a:off x="1028700" y="2174414"/>
            <a:ext cx="16632289" cy="5912476"/>
          </a:xfrm>
          <a:prstGeom prst="rect">
            <a:avLst/>
          </a:prstGeom>
        </p:spPr>
        <p:txBody>
          <a:bodyPr lIns="0" tIns="0" rIns="0" bIns="0" rtlCol="0" anchor="t">
            <a:spAutoFit/>
          </a:bodyPr>
          <a:lstStyle/>
          <a:p>
            <a:pPr algn="just">
              <a:lnSpc>
                <a:spcPts val="7918"/>
              </a:lnSpc>
            </a:pPr>
            <a:r>
              <a:rPr lang="en-US" sz="4019" spc="-132">
                <a:solidFill>
                  <a:srgbClr val="000000"/>
                </a:solidFill>
                <a:latin typeface="DM Sans"/>
                <a:ea typeface="DM Sans"/>
                <a:cs typeface="DM Sans"/>
                <a:sym typeface="DM Sans"/>
              </a:rPr>
              <a:t>This analysis investigates the performance of students seeking admission into the Computer Science Department across four academic years (2022–2025). Each student participated in two major exams:</a:t>
            </a:r>
          </a:p>
          <a:p>
            <a:pPr marL="867826" lvl="1" indent="-433913" algn="just">
              <a:lnSpc>
                <a:spcPts val="7918"/>
              </a:lnSpc>
              <a:buFont typeface="Arial"/>
              <a:buChar char="•"/>
            </a:pPr>
            <a:r>
              <a:rPr lang="en-US" sz="4019" spc="-132">
                <a:solidFill>
                  <a:srgbClr val="000000"/>
                </a:solidFill>
                <a:latin typeface="DM Sans"/>
                <a:ea typeface="DM Sans"/>
                <a:cs typeface="DM Sans"/>
                <a:sym typeface="DM Sans"/>
              </a:rPr>
              <a:t>Analysis of UTME (strict CBT exam) &amp; POST‑UTME (remote exam).</a:t>
            </a:r>
          </a:p>
          <a:p>
            <a:pPr marL="867826" lvl="1" indent="-433913" algn="just">
              <a:lnSpc>
                <a:spcPts val="7918"/>
              </a:lnSpc>
              <a:buFont typeface="Arial"/>
              <a:buChar char="•"/>
            </a:pPr>
            <a:r>
              <a:rPr lang="en-US" sz="4019" spc="-132">
                <a:solidFill>
                  <a:srgbClr val="000000"/>
                </a:solidFill>
                <a:latin typeface="DM Sans"/>
                <a:ea typeface="DM Sans"/>
                <a:cs typeface="DM Sans"/>
                <a:sym typeface="DM Sans"/>
              </a:rPr>
              <a:t>435 Computer Science applicants analyzed.</a:t>
            </a:r>
          </a:p>
          <a:p>
            <a:pPr marL="867826" lvl="1" indent="-433913" algn="just">
              <a:lnSpc>
                <a:spcPts val="7918"/>
              </a:lnSpc>
              <a:buFont typeface="Arial"/>
              <a:buChar char="•"/>
            </a:pPr>
            <a:r>
              <a:rPr lang="en-US" sz="4019" spc="-132">
                <a:solidFill>
                  <a:srgbClr val="000000"/>
                </a:solidFill>
                <a:latin typeface="DM Sans"/>
                <a:ea typeface="DM Sans"/>
                <a:cs typeface="DM Sans"/>
                <a:sym typeface="DM Sans"/>
              </a:rPr>
              <a:t>Goal: Evaluate reliability, fairness, and influence of both exams.</a:t>
            </a:r>
          </a:p>
        </p:txBody>
      </p:sp>
    </p:spTree>
  </p:cSld>
  <p:clrMapOvr>
    <a:masterClrMapping/>
  </p:clrMapOvr>
  <p:transition spd="slow">
    <p:cover dir="ld"/>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Freeform 2"/>
          <p:cNvSpPr/>
          <p:nvPr/>
        </p:nvSpPr>
        <p:spPr>
          <a:xfrm rot="-10800000">
            <a:off x="14531956" y="-663594"/>
            <a:ext cx="3756044" cy="3756044"/>
          </a:xfrm>
          <a:custGeom>
            <a:avLst/>
            <a:gdLst/>
            <a:ahLst/>
            <a:cxnLst/>
            <a:rect l="l" t="t" r="r" b="b"/>
            <a:pathLst>
              <a:path w="3756044" h="3756044">
                <a:moveTo>
                  <a:pt x="0" y="0"/>
                </a:moveTo>
                <a:lnTo>
                  <a:pt x="3756044" y="0"/>
                </a:lnTo>
                <a:lnTo>
                  <a:pt x="3756044" y="3756044"/>
                </a:lnTo>
                <a:lnTo>
                  <a:pt x="0" y="37560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68973" y="8598573"/>
            <a:ext cx="1319455" cy="131945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5" name="TextBox 5"/>
            <p:cNvSpPr txBox="1"/>
            <p:nvPr/>
          </p:nvSpPr>
          <p:spPr>
            <a:xfrm>
              <a:off x="76200" y="-19050"/>
              <a:ext cx="660400" cy="755650"/>
            </a:xfrm>
            <a:prstGeom prst="rect">
              <a:avLst/>
            </a:prstGeom>
          </p:spPr>
          <p:txBody>
            <a:bodyPr lIns="32547" tIns="32547" rIns="32547" bIns="32547" rtlCol="0" anchor="ctr"/>
            <a:lstStyle/>
            <a:p>
              <a:pPr algn="ctr">
                <a:lnSpc>
                  <a:spcPts val="3401"/>
                </a:lnSpc>
              </a:pPr>
              <a:endParaRPr/>
            </a:p>
          </p:txBody>
        </p:sp>
      </p:grpSp>
      <p:grpSp>
        <p:nvGrpSpPr>
          <p:cNvPr id="6" name="Group 6"/>
          <p:cNvGrpSpPr/>
          <p:nvPr/>
        </p:nvGrpSpPr>
        <p:grpSpPr>
          <a:xfrm rot="5400000">
            <a:off x="4993217" y="-3376756"/>
            <a:ext cx="8908377" cy="17681189"/>
            <a:chOff x="0" y="0"/>
            <a:chExt cx="703872" cy="1397032"/>
          </a:xfrm>
        </p:grpSpPr>
        <p:sp>
          <p:nvSpPr>
            <p:cNvPr id="7" name="Freeform 7"/>
            <p:cNvSpPr/>
            <p:nvPr/>
          </p:nvSpPr>
          <p:spPr>
            <a:xfrm>
              <a:off x="0" y="0"/>
              <a:ext cx="703872" cy="1397032"/>
            </a:xfrm>
            <a:custGeom>
              <a:avLst/>
              <a:gdLst/>
              <a:ahLst/>
              <a:cxnLst/>
              <a:rect l="l" t="t" r="r" b="b"/>
              <a:pathLst>
                <a:path w="703872" h="1397032">
                  <a:moveTo>
                    <a:pt x="50406" y="0"/>
                  </a:moveTo>
                  <a:lnTo>
                    <a:pt x="653466" y="0"/>
                  </a:lnTo>
                  <a:cubicBezTo>
                    <a:pt x="681304" y="0"/>
                    <a:pt x="703872" y="22567"/>
                    <a:pt x="703872" y="50406"/>
                  </a:cubicBezTo>
                  <a:lnTo>
                    <a:pt x="703872" y="1346627"/>
                  </a:lnTo>
                  <a:cubicBezTo>
                    <a:pt x="703872" y="1374465"/>
                    <a:pt x="681304" y="1397032"/>
                    <a:pt x="653466" y="1397032"/>
                  </a:cubicBezTo>
                  <a:lnTo>
                    <a:pt x="50406" y="1397032"/>
                  </a:lnTo>
                  <a:cubicBezTo>
                    <a:pt x="22567" y="1397032"/>
                    <a:pt x="0" y="1374465"/>
                    <a:pt x="0" y="1346627"/>
                  </a:cubicBezTo>
                  <a:lnTo>
                    <a:pt x="0" y="50406"/>
                  </a:lnTo>
                  <a:cubicBezTo>
                    <a:pt x="0" y="22567"/>
                    <a:pt x="22567" y="0"/>
                    <a:pt x="50406" y="0"/>
                  </a:cubicBezTo>
                  <a:close/>
                </a:path>
              </a:pathLst>
            </a:custGeom>
            <a:solidFill>
              <a:srgbClr val="FFFFFF"/>
            </a:solidFill>
          </p:spPr>
        </p:sp>
        <p:sp>
          <p:nvSpPr>
            <p:cNvPr id="8" name="TextBox 8"/>
            <p:cNvSpPr txBox="1"/>
            <p:nvPr/>
          </p:nvSpPr>
          <p:spPr>
            <a:xfrm>
              <a:off x="0" y="-85725"/>
              <a:ext cx="703872" cy="1482757"/>
            </a:xfrm>
            <a:prstGeom prst="rect">
              <a:avLst/>
            </a:prstGeom>
          </p:spPr>
          <p:txBody>
            <a:bodyPr lIns="50800" tIns="50800" rIns="50800" bIns="50800" rtlCol="0" anchor="ctr"/>
            <a:lstStyle/>
            <a:p>
              <a:pPr algn="ctr">
                <a:lnSpc>
                  <a:spcPts val="3768"/>
                </a:lnSpc>
              </a:pPr>
              <a:endParaRPr/>
            </a:p>
          </p:txBody>
        </p:sp>
      </p:grpSp>
      <p:sp>
        <p:nvSpPr>
          <p:cNvPr id="9" name="Freeform 9"/>
          <p:cNvSpPr/>
          <p:nvPr/>
        </p:nvSpPr>
        <p:spPr>
          <a:xfrm>
            <a:off x="12295116" y="630237"/>
            <a:ext cx="5992884" cy="10122111"/>
          </a:xfrm>
          <a:custGeom>
            <a:avLst/>
            <a:gdLst/>
            <a:ahLst/>
            <a:cxnLst/>
            <a:rect l="l" t="t" r="r" b="b"/>
            <a:pathLst>
              <a:path w="5992884" h="10122111">
                <a:moveTo>
                  <a:pt x="0" y="0"/>
                </a:moveTo>
                <a:lnTo>
                  <a:pt x="5992884" y="0"/>
                </a:lnTo>
                <a:lnTo>
                  <a:pt x="5992884" y="10122112"/>
                </a:lnTo>
                <a:lnTo>
                  <a:pt x="0" y="10122112"/>
                </a:lnTo>
                <a:lnTo>
                  <a:pt x="0" y="0"/>
                </a:lnTo>
                <a:close/>
              </a:path>
            </a:pathLst>
          </a:custGeom>
          <a:blipFill>
            <a:blip r:embed="rId4"/>
            <a:stretch>
              <a:fillRect l="-53205" r="-79153"/>
            </a:stretch>
          </a:blipFill>
        </p:spPr>
      </p:sp>
      <p:sp>
        <p:nvSpPr>
          <p:cNvPr id="10" name="TextBox 10"/>
          <p:cNvSpPr txBox="1"/>
          <p:nvPr/>
        </p:nvSpPr>
        <p:spPr>
          <a:xfrm>
            <a:off x="606811" y="288925"/>
            <a:ext cx="2699623" cy="720725"/>
          </a:xfrm>
          <a:prstGeom prst="rect">
            <a:avLst/>
          </a:prstGeom>
        </p:spPr>
        <p:txBody>
          <a:bodyPr lIns="0" tIns="0" rIns="0" bIns="0" rtlCol="0" anchor="t">
            <a:spAutoFit/>
          </a:bodyPr>
          <a:lstStyle/>
          <a:p>
            <a:pPr algn="l">
              <a:lnSpc>
                <a:spcPts val="5500"/>
              </a:lnSpc>
            </a:pPr>
            <a:r>
              <a:rPr lang="en-US" sz="5000" b="1">
                <a:solidFill>
                  <a:srgbClr val="FF6937"/>
                </a:solidFill>
                <a:latin typeface="DM Sans Bold"/>
                <a:ea typeface="DM Sans Bold"/>
                <a:cs typeface="DM Sans Bold"/>
                <a:sym typeface="DM Sans Bold"/>
              </a:rPr>
              <a:t>Our Goal</a:t>
            </a:r>
          </a:p>
        </p:txBody>
      </p:sp>
      <p:sp>
        <p:nvSpPr>
          <p:cNvPr id="11" name="TextBox 11"/>
          <p:cNvSpPr txBox="1"/>
          <p:nvPr/>
        </p:nvSpPr>
        <p:spPr>
          <a:xfrm>
            <a:off x="1028700" y="1063442"/>
            <a:ext cx="11614596" cy="6186776"/>
          </a:xfrm>
          <a:prstGeom prst="rect">
            <a:avLst/>
          </a:prstGeom>
        </p:spPr>
        <p:txBody>
          <a:bodyPr lIns="0" tIns="0" rIns="0" bIns="0" rtlCol="0" anchor="t">
            <a:spAutoFit/>
          </a:bodyPr>
          <a:lstStyle/>
          <a:p>
            <a:pPr marL="776913" lvl="1" indent="-388456" algn="l">
              <a:lnSpc>
                <a:spcPts val="6153"/>
              </a:lnSpc>
              <a:buFont typeface="Arial"/>
              <a:buChar char="•"/>
            </a:pPr>
            <a:r>
              <a:rPr lang="en-US" sz="3598">
                <a:solidFill>
                  <a:srgbClr val="000000"/>
                </a:solidFill>
                <a:latin typeface="DM Sans"/>
                <a:ea typeface="DM Sans"/>
                <a:cs typeface="DM Sans"/>
                <a:sym typeface="DM Sans"/>
              </a:rPr>
              <a:t> Measure Average on which Exam after Score.</a:t>
            </a:r>
          </a:p>
          <a:p>
            <a:pPr marL="776913" lvl="1" indent="-388456" algn="l">
              <a:lnSpc>
                <a:spcPts val="6153"/>
              </a:lnSpc>
              <a:buFont typeface="Arial"/>
              <a:buChar char="•"/>
            </a:pPr>
            <a:r>
              <a:rPr lang="en-US" sz="3598">
                <a:solidFill>
                  <a:srgbClr val="000000"/>
                </a:solidFill>
                <a:latin typeface="DM Sans"/>
                <a:ea typeface="DM Sans"/>
                <a:cs typeface="DM Sans"/>
                <a:sym typeface="DM Sans"/>
              </a:rPr>
              <a:t> Determine influence on admission scoring</a:t>
            </a:r>
          </a:p>
          <a:p>
            <a:pPr marL="776913" lvl="1" indent="-388456" algn="l">
              <a:lnSpc>
                <a:spcPts val="6153"/>
              </a:lnSpc>
              <a:buFont typeface="Arial"/>
              <a:buChar char="•"/>
            </a:pPr>
            <a:r>
              <a:rPr lang="en-US" sz="3598">
                <a:solidFill>
                  <a:srgbClr val="000000"/>
                </a:solidFill>
                <a:latin typeface="DM Sans"/>
                <a:ea typeface="DM Sans"/>
                <a:cs typeface="DM Sans"/>
                <a:sym typeface="DM Sans"/>
              </a:rPr>
              <a:t> Test relationship between UTME &amp; POST‑UTME.</a:t>
            </a:r>
          </a:p>
          <a:p>
            <a:pPr marL="776913" lvl="1" indent="-388456" algn="l">
              <a:lnSpc>
                <a:spcPts val="6153"/>
              </a:lnSpc>
              <a:buFont typeface="Arial"/>
              <a:buChar char="•"/>
            </a:pPr>
            <a:r>
              <a:rPr lang="en-US" sz="3598">
                <a:solidFill>
                  <a:srgbClr val="000000"/>
                </a:solidFill>
                <a:latin typeface="DM Sans"/>
                <a:ea typeface="DM Sans"/>
                <a:cs typeface="DM Sans"/>
                <a:sym typeface="DM Sans"/>
              </a:rPr>
              <a:t> Which Exam is Suitable for basis of university admission.</a:t>
            </a:r>
          </a:p>
          <a:p>
            <a:pPr marL="776913" lvl="1" indent="-388456" algn="l">
              <a:lnSpc>
                <a:spcPts val="6153"/>
              </a:lnSpc>
              <a:buFont typeface="Arial"/>
              <a:buChar char="•"/>
            </a:pPr>
            <a:r>
              <a:rPr lang="en-US" sz="3598">
                <a:solidFill>
                  <a:srgbClr val="000000"/>
                </a:solidFill>
                <a:latin typeface="DM Sans"/>
                <a:ea typeface="DM Sans"/>
                <a:cs typeface="DM Sans"/>
                <a:sym typeface="DM Sans"/>
              </a:rPr>
              <a:t>What is the relationship between the same person taking UTME and PUTME, and does this make PUTME a good test of knowledge</a:t>
            </a:r>
          </a:p>
        </p:txBody>
      </p:sp>
      <p:sp>
        <p:nvSpPr>
          <p:cNvPr id="12" name="TextBox 12"/>
          <p:cNvSpPr txBox="1"/>
          <p:nvPr/>
        </p:nvSpPr>
        <p:spPr>
          <a:xfrm>
            <a:off x="1313574" y="7583593"/>
            <a:ext cx="3282441" cy="720725"/>
          </a:xfrm>
          <a:prstGeom prst="rect">
            <a:avLst/>
          </a:prstGeom>
        </p:spPr>
        <p:txBody>
          <a:bodyPr lIns="0" tIns="0" rIns="0" bIns="0" rtlCol="0" anchor="t">
            <a:spAutoFit/>
          </a:bodyPr>
          <a:lstStyle/>
          <a:p>
            <a:pPr algn="l">
              <a:lnSpc>
                <a:spcPts val="5500"/>
              </a:lnSpc>
            </a:pPr>
            <a:r>
              <a:rPr lang="en-US" sz="5000" b="1">
                <a:solidFill>
                  <a:srgbClr val="FF6937"/>
                </a:solidFill>
                <a:latin typeface="DM Sans Bold"/>
                <a:ea typeface="DM Sans Bold"/>
                <a:cs typeface="DM Sans Bold"/>
                <a:sym typeface="DM Sans Bold"/>
              </a:rPr>
              <a:t>Main Goal</a:t>
            </a:r>
          </a:p>
        </p:txBody>
      </p:sp>
      <p:sp>
        <p:nvSpPr>
          <p:cNvPr id="13" name="TextBox 13"/>
          <p:cNvSpPr txBox="1"/>
          <p:nvPr/>
        </p:nvSpPr>
        <p:spPr>
          <a:xfrm>
            <a:off x="1313574" y="8343890"/>
            <a:ext cx="10601710" cy="1943110"/>
          </a:xfrm>
          <a:prstGeom prst="rect">
            <a:avLst/>
          </a:prstGeom>
        </p:spPr>
        <p:txBody>
          <a:bodyPr lIns="0" tIns="0" rIns="0" bIns="0" rtlCol="0" anchor="t">
            <a:spAutoFit/>
          </a:bodyPr>
          <a:lstStyle/>
          <a:p>
            <a:pPr algn="just">
              <a:lnSpc>
                <a:spcPts val="5249"/>
              </a:lnSpc>
            </a:pPr>
            <a:r>
              <a:rPr lang="en-US" sz="3499" b="1" spc="-101">
                <a:solidFill>
                  <a:srgbClr val="000000"/>
                </a:solidFill>
                <a:latin typeface="DM Sans Bold"/>
                <a:ea typeface="DM Sans Bold"/>
                <a:cs typeface="DM Sans Bold"/>
                <a:sym typeface="DM Sans Bold"/>
              </a:rPr>
              <a:t>To verify if low-UTME students are over-performing in Post-UTME and </a:t>
            </a:r>
            <a:r>
              <a:rPr lang="en-US" sz="3499" b="1" spc="-101">
                <a:solidFill>
                  <a:srgbClr val="ED7D31"/>
                </a:solidFill>
                <a:latin typeface="DM Sans Bold"/>
                <a:ea typeface="DM Sans Bold"/>
                <a:cs typeface="DM Sans Bold"/>
                <a:sym typeface="DM Sans Bold"/>
              </a:rPr>
              <a:t>WHY</a:t>
            </a:r>
            <a:r>
              <a:rPr lang="en-US" sz="3499" b="1" spc="-101">
                <a:solidFill>
                  <a:srgbClr val="000000"/>
                </a:solidFill>
                <a:latin typeface="DM Sans Bold"/>
                <a:ea typeface="DM Sans Bold"/>
                <a:cs typeface="DM Sans Bold"/>
                <a:sym typeface="DM Sans Bold"/>
              </a:rPr>
              <a:t>.</a:t>
            </a:r>
          </a:p>
          <a:p>
            <a:pPr algn="just">
              <a:lnSpc>
                <a:spcPts val="5249"/>
              </a:lnSpc>
            </a:pPr>
            <a:endParaRPr lang="en-US" sz="3499" b="1" spc="-101">
              <a:solidFill>
                <a:srgbClr val="000000"/>
              </a:solidFill>
              <a:latin typeface="DM Sans Bold"/>
              <a:ea typeface="DM Sans Bold"/>
              <a:cs typeface="DM Sans Bold"/>
              <a:sym typeface="DM Sans Bold"/>
            </a:endParaRPr>
          </a:p>
        </p:txBody>
      </p:sp>
    </p:spTree>
  </p:cSld>
  <p:clrMapOvr>
    <a:masterClrMapping/>
  </p:clrMapOvr>
  <p:transition spd="slow">
    <p:cover dir="ld"/>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1697432" y="2244672"/>
            <a:ext cx="1431073" cy="14310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3" name="TextBox 13"/>
            <p:cNvSpPr txBox="1"/>
            <p:nvPr/>
          </p:nvSpPr>
          <p:spPr>
            <a:xfrm>
              <a:off x="76200" y="-57150"/>
              <a:ext cx="660400" cy="793750"/>
            </a:xfrm>
            <a:prstGeom prst="rect">
              <a:avLst/>
            </a:prstGeom>
          </p:spPr>
          <p:txBody>
            <a:bodyPr lIns="50800" tIns="50800" rIns="50800" bIns="50800" rtlCol="0" anchor="ctr"/>
            <a:lstStyle/>
            <a:p>
              <a:pPr algn="ctr">
                <a:lnSpc>
                  <a:spcPts val="5184"/>
                </a:lnSpc>
              </a:pPr>
              <a:r>
                <a:rPr lang="en-US" sz="3200">
                  <a:solidFill>
                    <a:srgbClr val="000000"/>
                  </a:solidFill>
                  <a:latin typeface="DM Sans"/>
                  <a:ea typeface="DM Sans"/>
                  <a:cs typeface="DM Sans"/>
                  <a:sym typeface="DM Sans"/>
                </a:rPr>
                <a:t>01</a:t>
              </a:r>
            </a:p>
          </p:txBody>
        </p:sp>
      </p:grpSp>
      <p:grpSp>
        <p:nvGrpSpPr>
          <p:cNvPr id="14" name="Group 14"/>
          <p:cNvGrpSpPr/>
          <p:nvPr/>
        </p:nvGrpSpPr>
        <p:grpSpPr>
          <a:xfrm>
            <a:off x="1697432" y="4427997"/>
            <a:ext cx="1431073" cy="143107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6" name="TextBox 16"/>
            <p:cNvSpPr txBox="1"/>
            <p:nvPr/>
          </p:nvSpPr>
          <p:spPr>
            <a:xfrm>
              <a:off x="76200" y="-57150"/>
              <a:ext cx="660400" cy="793750"/>
            </a:xfrm>
            <a:prstGeom prst="rect">
              <a:avLst/>
            </a:prstGeom>
          </p:spPr>
          <p:txBody>
            <a:bodyPr lIns="50800" tIns="50800" rIns="50800" bIns="50800" rtlCol="0" anchor="ctr"/>
            <a:lstStyle/>
            <a:p>
              <a:pPr algn="ctr">
                <a:lnSpc>
                  <a:spcPts val="5184"/>
                </a:lnSpc>
              </a:pPr>
              <a:r>
                <a:rPr lang="en-US" sz="3200">
                  <a:solidFill>
                    <a:srgbClr val="000000"/>
                  </a:solidFill>
                  <a:latin typeface="DM Sans"/>
                  <a:ea typeface="DM Sans"/>
                  <a:cs typeface="DM Sans"/>
                  <a:sym typeface="DM Sans"/>
                </a:rPr>
                <a:t>02</a:t>
              </a:r>
            </a:p>
          </p:txBody>
        </p:sp>
      </p:grpSp>
      <p:sp>
        <p:nvSpPr>
          <p:cNvPr id="17" name="TextBox 17"/>
          <p:cNvSpPr txBox="1"/>
          <p:nvPr/>
        </p:nvSpPr>
        <p:spPr>
          <a:xfrm>
            <a:off x="3276153" y="2488824"/>
            <a:ext cx="6822818" cy="1186920"/>
          </a:xfrm>
          <a:prstGeom prst="rect">
            <a:avLst/>
          </a:prstGeom>
        </p:spPr>
        <p:txBody>
          <a:bodyPr lIns="0" tIns="0" rIns="0" bIns="0" rtlCol="0" anchor="t">
            <a:spAutoFit/>
          </a:bodyPr>
          <a:lstStyle/>
          <a:p>
            <a:pPr algn="l">
              <a:lnSpc>
                <a:spcPts val="4766"/>
              </a:lnSpc>
            </a:pPr>
            <a:r>
              <a:rPr lang="en-US" sz="3404">
                <a:solidFill>
                  <a:srgbClr val="000000"/>
                </a:solidFill>
                <a:latin typeface="DM Sans"/>
                <a:ea typeface="DM Sans"/>
                <a:cs typeface="DM Sans"/>
                <a:sym typeface="DM Sans"/>
              </a:rPr>
              <a:t>Descriptive statistics (averages).</a:t>
            </a:r>
          </a:p>
          <a:p>
            <a:pPr algn="l">
              <a:lnSpc>
                <a:spcPts val="4766"/>
              </a:lnSpc>
            </a:pPr>
            <a:r>
              <a:rPr lang="en-US" sz="3404">
                <a:solidFill>
                  <a:srgbClr val="000000"/>
                </a:solidFill>
                <a:latin typeface="DM Sans"/>
                <a:ea typeface="DM Sans"/>
                <a:cs typeface="DM Sans"/>
                <a:sym typeface="DM Sans"/>
              </a:rPr>
              <a:t>Pie  Chart</a:t>
            </a:r>
          </a:p>
        </p:txBody>
      </p:sp>
      <p:sp>
        <p:nvSpPr>
          <p:cNvPr id="18" name="TextBox 18"/>
          <p:cNvSpPr txBox="1"/>
          <p:nvPr/>
        </p:nvSpPr>
        <p:spPr>
          <a:xfrm>
            <a:off x="3276153" y="4516736"/>
            <a:ext cx="6822818" cy="1186920"/>
          </a:xfrm>
          <a:prstGeom prst="rect">
            <a:avLst/>
          </a:prstGeom>
        </p:spPr>
        <p:txBody>
          <a:bodyPr lIns="0" tIns="0" rIns="0" bIns="0" rtlCol="0" anchor="t">
            <a:spAutoFit/>
          </a:bodyPr>
          <a:lstStyle/>
          <a:p>
            <a:pPr algn="l">
              <a:lnSpc>
                <a:spcPts val="4766"/>
              </a:lnSpc>
            </a:pPr>
            <a:r>
              <a:rPr lang="en-US" sz="3404">
                <a:solidFill>
                  <a:srgbClr val="000000"/>
                </a:solidFill>
                <a:latin typeface="DM Sans"/>
                <a:ea typeface="DM Sans"/>
                <a:cs typeface="DM Sans"/>
                <a:sym typeface="DM Sans"/>
              </a:rPr>
              <a:t>Logistic regression (influence)</a:t>
            </a:r>
          </a:p>
          <a:p>
            <a:pPr algn="l">
              <a:lnSpc>
                <a:spcPts val="4766"/>
              </a:lnSpc>
            </a:pPr>
            <a:r>
              <a:rPr lang="en-US" sz="3404">
                <a:solidFill>
                  <a:srgbClr val="000000"/>
                </a:solidFill>
                <a:latin typeface="DM Sans"/>
                <a:ea typeface="DM Sans"/>
                <a:cs typeface="DM Sans"/>
                <a:sym typeface="DM Sans"/>
              </a:rPr>
              <a:t>Bar Chat</a:t>
            </a:r>
          </a:p>
        </p:txBody>
      </p:sp>
      <p:sp>
        <p:nvSpPr>
          <p:cNvPr id="19" name="TextBox 19"/>
          <p:cNvSpPr txBox="1"/>
          <p:nvPr/>
        </p:nvSpPr>
        <p:spPr>
          <a:xfrm>
            <a:off x="3276153" y="6754937"/>
            <a:ext cx="6822818" cy="1186920"/>
          </a:xfrm>
          <a:prstGeom prst="rect">
            <a:avLst/>
          </a:prstGeom>
        </p:spPr>
        <p:txBody>
          <a:bodyPr lIns="0" tIns="0" rIns="0" bIns="0" rtlCol="0" anchor="t">
            <a:spAutoFit/>
          </a:bodyPr>
          <a:lstStyle/>
          <a:p>
            <a:pPr algn="l">
              <a:lnSpc>
                <a:spcPts val="4766"/>
              </a:lnSpc>
            </a:pPr>
            <a:r>
              <a:rPr lang="en-US" sz="3404">
                <a:solidFill>
                  <a:srgbClr val="000000"/>
                </a:solidFill>
                <a:latin typeface="DM Sans"/>
                <a:ea typeface="DM Sans"/>
                <a:cs typeface="DM Sans"/>
                <a:sym typeface="DM Sans"/>
              </a:rPr>
              <a:t>Pearson &amp; Spearman correlation</a:t>
            </a:r>
          </a:p>
          <a:p>
            <a:pPr algn="l">
              <a:lnSpc>
                <a:spcPts val="4766"/>
              </a:lnSpc>
            </a:pPr>
            <a:r>
              <a:rPr lang="en-US" sz="3404">
                <a:solidFill>
                  <a:srgbClr val="000000"/>
                </a:solidFill>
                <a:latin typeface="DM Sans"/>
                <a:ea typeface="DM Sans"/>
                <a:cs typeface="DM Sans"/>
                <a:sym typeface="DM Sans"/>
              </a:rPr>
              <a:t>Scatter Plot , Tread Line</a:t>
            </a:r>
          </a:p>
        </p:txBody>
      </p:sp>
      <p:grpSp>
        <p:nvGrpSpPr>
          <p:cNvPr id="20" name="Group 20"/>
          <p:cNvGrpSpPr/>
          <p:nvPr/>
        </p:nvGrpSpPr>
        <p:grpSpPr>
          <a:xfrm>
            <a:off x="1697432" y="6691338"/>
            <a:ext cx="1431073" cy="1431073"/>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2" name="TextBox 22"/>
            <p:cNvSpPr txBox="1"/>
            <p:nvPr/>
          </p:nvSpPr>
          <p:spPr>
            <a:xfrm>
              <a:off x="76200" y="-57150"/>
              <a:ext cx="660400" cy="793750"/>
            </a:xfrm>
            <a:prstGeom prst="rect">
              <a:avLst/>
            </a:prstGeom>
          </p:spPr>
          <p:txBody>
            <a:bodyPr lIns="50800" tIns="50800" rIns="50800" bIns="50800" rtlCol="0" anchor="ctr"/>
            <a:lstStyle/>
            <a:p>
              <a:pPr algn="ctr">
                <a:lnSpc>
                  <a:spcPts val="5184"/>
                </a:lnSpc>
              </a:pPr>
              <a:r>
                <a:rPr lang="en-US" sz="3200">
                  <a:solidFill>
                    <a:srgbClr val="000000"/>
                  </a:solidFill>
                  <a:latin typeface="DM Sans"/>
                  <a:ea typeface="DM Sans"/>
                  <a:cs typeface="DM Sans"/>
                  <a:sym typeface="DM Sans"/>
                </a:rPr>
                <a:t>03</a:t>
              </a:r>
            </a:p>
          </p:txBody>
        </p:sp>
      </p:grpSp>
      <p:grpSp>
        <p:nvGrpSpPr>
          <p:cNvPr id="23" name="Group 23"/>
          <p:cNvGrpSpPr/>
          <p:nvPr/>
        </p:nvGrpSpPr>
        <p:grpSpPr>
          <a:xfrm>
            <a:off x="10251371" y="0"/>
            <a:ext cx="6526158" cy="11125972"/>
            <a:chOff x="0" y="0"/>
            <a:chExt cx="963344" cy="1642336"/>
          </a:xfrm>
        </p:grpSpPr>
        <p:sp>
          <p:nvSpPr>
            <p:cNvPr id="24" name="Freeform 24"/>
            <p:cNvSpPr/>
            <p:nvPr/>
          </p:nvSpPr>
          <p:spPr>
            <a:xfrm rot="-5400000">
              <a:off x="-339496" y="339496"/>
              <a:ext cx="1642336" cy="963344"/>
            </a:xfrm>
            <a:custGeom>
              <a:avLst/>
              <a:gdLst/>
              <a:ahLst/>
              <a:cxnLst/>
              <a:rect l="l" t="t" r="r" b="b"/>
              <a:pathLst>
                <a:path w="1642336" h="963344">
                  <a:moveTo>
                    <a:pt x="1642336" y="27284"/>
                  </a:moveTo>
                  <a:lnTo>
                    <a:pt x="1642336" y="936059"/>
                  </a:lnTo>
                  <a:cubicBezTo>
                    <a:pt x="1642336" y="943296"/>
                    <a:pt x="1639461" y="950236"/>
                    <a:pt x="1634344" y="955352"/>
                  </a:cubicBezTo>
                  <a:cubicBezTo>
                    <a:pt x="1629228" y="960469"/>
                    <a:pt x="1622288" y="963344"/>
                    <a:pt x="1615051" y="963344"/>
                  </a:cubicBezTo>
                  <a:lnTo>
                    <a:pt x="27285" y="963344"/>
                  </a:lnTo>
                  <a:cubicBezTo>
                    <a:pt x="12216" y="963344"/>
                    <a:pt x="0" y="951128"/>
                    <a:pt x="0" y="936059"/>
                  </a:cubicBezTo>
                  <a:lnTo>
                    <a:pt x="0" y="27284"/>
                  </a:lnTo>
                  <a:cubicBezTo>
                    <a:pt x="0" y="12215"/>
                    <a:pt x="12216" y="0"/>
                    <a:pt x="27285" y="0"/>
                  </a:cubicBezTo>
                  <a:lnTo>
                    <a:pt x="1615051" y="0"/>
                  </a:lnTo>
                  <a:cubicBezTo>
                    <a:pt x="1630120" y="0"/>
                    <a:pt x="1642336" y="12215"/>
                    <a:pt x="1642336" y="27284"/>
                  </a:cubicBezTo>
                  <a:close/>
                </a:path>
              </a:pathLst>
            </a:custGeom>
            <a:blipFill>
              <a:blip r:embed="rId2"/>
              <a:stretch>
                <a:fillRect l="-2139" r="-2139"/>
              </a:stretch>
            </a:blipFill>
          </p:spPr>
        </p:sp>
      </p:grpSp>
      <p:sp>
        <p:nvSpPr>
          <p:cNvPr id="28" name="TextBox 28"/>
          <p:cNvSpPr txBox="1"/>
          <p:nvPr/>
        </p:nvSpPr>
        <p:spPr>
          <a:xfrm>
            <a:off x="1697432" y="612849"/>
            <a:ext cx="6902019" cy="726948"/>
          </a:xfrm>
          <a:prstGeom prst="rect">
            <a:avLst/>
          </a:prstGeom>
        </p:spPr>
        <p:txBody>
          <a:bodyPr lIns="0" tIns="0" rIns="0" bIns="0" rtlCol="0" anchor="t">
            <a:spAutoFit/>
          </a:bodyPr>
          <a:lstStyle/>
          <a:p>
            <a:pPr algn="l">
              <a:lnSpc>
                <a:spcPts val="5615"/>
              </a:lnSpc>
            </a:pPr>
            <a:r>
              <a:rPr lang="en-US" sz="5199" b="1">
                <a:solidFill>
                  <a:srgbClr val="000000"/>
                </a:solidFill>
                <a:latin typeface="DM Sans Bold"/>
                <a:ea typeface="DM Sans Bold"/>
                <a:cs typeface="DM Sans Bold"/>
                <a:sym typeface="DM Sans Bold"/>
              </a:rPr>
              <a:t>Methods &amp;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4876041" y="2665330"/>
            <a:ext cx="8535918" cy="1107707"/>
            <a:chOff x="0" y="0"/>
            <a:chExt cx="11381224" cy="1476942"/>
          </a:xfrm>
        </p:grpSpPr>
        <p:grpSp>
          <p:nvGrpSpPr>
            <p:cNvPr id="12" name="Group 12"/>
            <p:cNvGrpSpPr/>
            <p:nvPr/>
          </p:nvGrpSpPr>
          <p:grpSpPr>
            <a:xfrm rot="-10800000">
              <a:off x="0" y="0"/>
              <a:ext cx="11381224" cy="1476942"/>
              <a:chOff x="0" y="0"/>
              <a:chExt cx="2709536" cy="351664"/>
            </a:xfrm>
          </p:grpSpPr>
          <p:sp>
            <p:nvSpPr>
              <p:cNvPr id="13" name="Freeform 13"/>
              <p:cNvSpPr/>
              <p:nvPr/>
            </p:nvSpPr>
            <p:spPr>
              <a:xfrm>
                <a:off x="0" y="0"/>
                <a:ext cx="2709536" cy="351664"/>
              </a:xfrm>
              <a:custGeom>
                <a:avLst/>
                <a:gdLst/>
                <a:ahLst/>
                <a:cxnLst/>
                <a:rect l="l" t="t" r="r" b="b"/>
                <a:pathLst>
                  <a:path w="2709536" h="351664">
                    <a:moveTo>
                      <a:pt x="2709536" y="9070"/>
                    </a:moveTo>
                    <a:lnTo>
                      <a:pt x="2709536" y="342594"/>
                    </a:lnTo>
                    <a:cubicBezTo>
                      <a:pt x="2709536" y="347603"/>
                      <a:pt x="2705476" y="351664"/>
                      <a:pt x="2700466" y="351664"/>
                    </a:cubicBezTo>
                    <a:lnTo>
                      <a:pt x="9070" y="351664"/>
                    </a:lnTo>
                    <a:cubicBezTo>
                      <a:pt x="4061" y="351664"/>
                      <a:pt x="0" y="347603"/>
                      <a:pt x="0" y="342594"/>
                    </a:cubicBezTo>
                    <a:lnTo>
                      <a:pt x="0" y="9070"/>
                    </a:lnTo>
                    <a:cubicBezTo>
                      <a:pt x="0" y="4061"/>
                      <a:pt x="4061" y="0"/>
                      <a:pt x="9070" y="0"/>
                    </a:cubicBezTo>
                    <a:lnTo>
                      <a:pt x="2700466" y="0"/>
                    </a:lnTo>
                    <a:cubicBezTo>
                      <a:pt x="2705476" y="0"/>
                      <a:pt x="2709536" y="4061"/>
                      <a:pt x="2709536" y="9070"/>
                    </a:cubicBezTo>
                    <a:close/>
                  </a:path>
                </a:pathLst>
              </a:custGeom>
              <a:solidFill>
                <a:srgbClr val="EC721E"/>
              </a:solidFill>
            </p:spPr>
          </p:sp>
          <p:sp>
            <p:nvSpPr>
              <p:cNvPr id="14" name="TextBox 14"/>
              <p:cNvSpPr txBox="1"/>
              <p:nvPr/>
            </p:nvSpPr>
            <p:spPr>
              <a:xfrm>
                <a:off x="0" y="-57150"/>
                <a:ext cx="2709536" cy="408814"/>
              </a:xfrm>
              <a:prstGeom prst="rect">
                <a:avLst/>
              </a:prstGeom>
            </p:spPr>
            <p:txBody>
              <a:bodyPr lIns="50800" tIns="50800" rIns="50800" bIns="50800" rtlCol="0" anchor="ctr"/>
              <a:lstStyle/>
              <a:p>
                <a:pPr algn="ctr">
                  <a:lnSpc>
                    <a:spcPts val="1944"/>
                  </a:lnSpc>
                </a:pPr>
                <a:endParaRPr/>
              </a:p>
            </p:txBody>
          </p:sp>
        </p:grpSp>
        <p:sp>
          <p:nvSpPr>
            <p:cNvPr id="15" name="TextBox 15"/>
            <p:cNvSpPr txBox="1"/>
            <p:nvPr/>
          </p:nvSpPr>
          <p:spPr>
            <a:xfrm>
              <a:off x="244140" y="334537"/>
              <a:ext cx="11137085" cy="767081"/>
            </a:xfrm>
            <a:prstGeom prst="rect">
              <a:avLst/>
            </a:prstGeom>
          </p:spPr>
          <p:txBody>
            <a:bodyPr lIns="0" tIns="0" rIns="0" bIns="0" rtlCol="0" anchor="t">
              <a:spAutoFit/>
            </a:bodyPr>
            <a:lstStyle/>
            <a:p>
              <a:pPr algn="l">
                <a:lnSpc>
                  <a:spcPts val="4320"/>
                </a:lnSpc>
              </a:pPr>
              <a:r>
                <a:rPr lang="en-US" sz="4000" b="1">
                  <a:solidFill>
                    <a:srgbClr val="FFFFFF"/>
                  </a:solidFill>
                  <a:latin typeface="DM Sans Bold"/>
                  <a:ea typeface="DM Sans Bold"/>
                  <a:cs typeface="DM Sans Bold"/>
                  <a:sym typeface="DM Sans Bold"/>
                </a:rPr>
                <a:t>DESCRIPTIVE ANALYSIS AVERAGE</a:t>
              </a:r>
            </a:p>
          </p:txBody>
        </p:sp>
      </p:grpSp>
      <p:grpSp>
        <p:nvGrpSpPr>
          <p:cNvPr id="16" name="Group 16"/>
          <p:cNvGrpSpPr/>
          <p:nvPr/>
        </p:nvGrpSpPr>
        <p:grpSpPr>
          <a:xfrm>
            <a:off x="1818336" y="3977873"/>
            <a:ext cx="4256992" cy="875228"/>
            <a:chOff x="0" y="0"/>
            <a:chExt cx="5675989" cy="1166971"/>
          </a:xfrm>
        </p:grpSpPr>
        <p:grpSp>
          <p:nvGrpSpPr>
            <p:cNvPr id="17" name="Group 17"/>
            <p:cNvGrpSpPr/>
            <p:nvPr/>
          </p:nvGrpSpPr>
          <p:grpSpPr>
            <a:xfrm rot="-10800000">
              <a:off x="0" y="0"/>
              <a:ext cx="5675989" cy="1166971"/>
              <a:chOff x="0" y="0"/>
              <a:chExt cx="1710217" cy="351664"/>
            </a:xfrm>
          </p:grpSpPr>
          <p:sp>
            <p:nvSpPr>
              <p:cNvPr id="18" name="Freeform 18"/>
              <p:cNvSpPr/>
              <p:nvPr/>
            </p:nvSpPr>
            <p:spPr>
              <a:xfrm>
                <a:off x="0" y="0"/>
                <a:ext cx="1710217" cy="351664"/>
              </a:xfrm>
              <a:custGeom>
                <a:avLst/>
                <a:gdLst/>
                <a:ahLst/>
                <a:cxnLst/>
                <a:rect l="l" t="t" r="r" b="b"/>
                <a:pathLst>
                  <a:path w="1710217" h="351664">
                    <a:moveTo>
                      <a:pt x="1710217" y="18186"/>
                    </a:moveTo>
                    <a:lnTo>
                      <a:pt x="1710217" y="333477"/>
                    </a:lnTo>
                    <a:cubicBezTo>
                      <a:pt x="1710217" y="343521"/>
                      <a:pt x="1702074" y="351664"/>
                      <a:pt x="1692030" y="351664"/>
                    </a:cubicBezTo>
                    <a:lnTo>
                      <a:pt x="18186" y="351664"/>
                    </a:lnTo>
                    <a:cubicBezTo>
                      <a:pt x="8142" y="351664"/>
                      <a:pt x="0" y="343521"/>
                      <a:pt x="0" y="333477"/>
                    </a:cubicBezTo>
                    <a:lnTo>
                      <a:pt x="0" y="18186"/>
                    </a:lnTo>
                    <a:cubicBezTo>
                      <a:pt x="0" y="8142"/>
                      <a:pt x="8142" y="0"/>
                      <a:pt x="18186" y="0"/>
                    </a:cubicBezTo>
                    <a:lnTo>
                      <a:pt x="1692030" y="0"/>
                    </a:lnTo>
                    <a:cubicBezTo>
                      <a:pt x="1696854" y="0"/>
                      <a:pt x="1701479" y="1916"/>
                      <a:pt x="1704890" y="5327"/>
                    </a:cubicBezTo>
                    <a:cubicBezTo>
                      <a:pt x="1708301" y="8737"/>
                      <a:pt x="1710217" y="13363"/>
                      <a:pt x="1710217" y="18186"/>
                    </a:cubicBezTo>
                    <a:close/>
                  </a:path>
                </a:pathLst>
              </a:custGeom>
              <a:solidFill>
                <a:srgbClr val="FFFFFF"/>
              </a:solidFill>
              <a:ln w="19050" cap="sq">
                <a:solidFill>
                  <a:srgbClr val="EC721E"/>
                </a:solidFill>
                <a:prstDash val="solid"/>
                <a:miter/>
              </a:ln>
            </p:spPr>
          </p:sp>
          <p:sp>
            <p:nvSpPr>
              <p:cNvPr id="19" name="TextBox 19"/>
              <p:cNvSpPr txBox="1"/>
              <p:nvPr/>
            </p:nvSpPr>
            <p:spPr>
              <a:xfrm>
                <a:off x="0" y="-57150"/>
                <a:ext cx="1710217" cy="408814"/>
              </a:xfrm>
              <a:prstGeom prst="rect">
                <a:avLst/>
              </a:prstGeom>
            </p:spPr>
            <p:txBody>
              <a:bodyPr lIns="50800" tIns="50800" rIns="50800" bIns="50800" rtlCol="0" anchor="ctr"/>
              <a:lstStyle/>
              <a:p>
                <a:pPr algn="ctr">
                  <a:lnSpc>
                    <a:spcPts val="1944"/>
                  </a:lnSpc>
                </a:pPr>
                <a:endParaRPr/>
              </a:p>
            </p:txBody>
          </p:sp>
        </p:grpSp>
        <p:sp>
          <p:nvSpPr>
            <p:cNvPr id="20" name="TextBox 20"/>
            <p:cNvSpPr txBox="1"/>
            <p:nvPr/>
          </p:nvSpPr>
          <p:spPr>
            <a:xfrm>
              <a:off x="244140" y="301164"/>
              <a:ext cx="5431850" cy="593218"/>
            </a:xfrm>
            <a:prstGeom prst="rect">
              <a:avLst/>
            </a:prstGeom>
          </p:spPr>
          <p:txBody>
            <a:bodyPr lIns="0" tIns="0" rIns="0" bIns="0" rtlCol="0" anchor="t">
              <a:spAutoFit/>
            </a:bodyPr>
            <a:lstStyle/>
            <a:p>
              <a:pPr algn="l">
                <a:lnSpc>
                  <a:spcPts val="3348"/>
                </a:lnSpc>
              </a:pPr>
              <a:r>
                <a:rPr lang="en-US" sz="3100" b="1">
                  <a:solidFill>
                    <a:srgbClr val="000000"/>
                  </a:solidFill>
                  <a:latin typeface="DM Sans Bold"/>
                  <a:ea typeface="DM Sans Bold"/>
                  <a:cs typeface="DM Sans Bold"/>
                  <a:sym typeface="DM Sans Bold"/>
                </a:rPr>
                <a:t>COMPUTER SCIENCE</a:t>
              </a:r>
            </a:p>
          </p:txBody>
        </p:sp>
      </p:grpSp>
      <p:pic>
        <p:nvPicPr>
          <p:cNvPr id="21" name="Picture 21"/>
          <p:cNvPicPr>
            <a:picLocks noChangeAspect="1"/>
          </p:cNvPicPr>
          <p:nvPr/>
        </p:nvPicPr>
        <p:blipFill>
          <a:blip r:embed="rId2"/>
          <a:stretch>
            <a:fillRect/>
          </a:stretch>
        </p:blipFill>
        <p:spPr>
          <a:xfrm>
            <a:off x="-308357" y="4222611"/>
            <a:ext cx="8725591" cy="6776346"/>
          </a:xfrm>
          <a:prstGeom prst="rect">
            <a:avLst/>
          </a:prstGeom>
        </p:spPr>
      </p:pic>
      <p:grpSp>
        <p:nvGrpSpPr>
          <p:cNvPr id="22" name="Group 22"/>
          <p:cNvGrpSpPr/>
          <p:nvPr/>
        </p:nvGrpSpPr>
        <p:grpSpPr>
          <a:xfrm>
            <a:off x="10835848" y="3934961"/>
            <a:ext cx="5586405" cy="918140"/>
            <a:chOff x="0" y="0"/>
            <a:chExt cx="7448540" cy="1224187"/>
          </a:xfrm>
        </p:grpSpPr>
        <p:grpSp>
          <p:nvGrpSpPr>
            <p:cNvPr id="23" name="Group 23"/>
            <p:cNvGrpSpPr/>
            <p:nvPr/>
          </p:nvGrpSpPr>
          <p:grpSpPr>
            <a:xfrm rot="-10800000">
              <a:off x="0" y="0"/>
              <a:ext cx="7098133" cy="1224187"/>
              <a:chOff x="0" y="0"/>
              <a:chExt cx="1710217" cy="294994"/>
            </a:xfrm>
          </p:grpSpPr>
          <p:sp>
            <p:nvSpPr>
              <p:cNvPr id="24" name="Freeform 24"/>
              <p:cNvSpPr/>
              <p:nvPr/>
            </p:nvSpPr>
            <p:spPr>
              <a:xfrm>
                <a:off x="0" y="0"/>
                <a:ext cx="1710217" cy="294994"/>
              </a:xfrm>
              <a:custGeom>
                <a:avLst/>
                <a:gdLst/>
                <a:ahLst/>
                <a:cxnLst/>
                <a:rect l="l" t="t" r="r" b="b"/>
                <a:pathLst>
                  <a:path w="1710217" h="294994">
                    <a:moveTo>
                      <a:pt x="1710217" y="14543"/>
                    </a:moveTo>
                    <a:lnTo>
                      <a:pt x="1710217" y="280451"/>
                    </a:lnTo>
                    <a:cubicBezTo>
                      <a:pt x="1710217" y="284308"/>
                      <a:pt x="1708685" y="288007"/>
                      <a:pt x="1705957" y="290734"/>
                    </a:cubicBezTo>
                    <a:cubicBezTo>
                      <a:pt x="1703230" y="293462"/>
                      <a:pt x="1699531" y="294994"/>
                      <a:pt x="1695674" y="294994"/>
                    </a:cubicBezTo>
                    <a:lnTo>
                      <a:pt x="14543" y="294994"/>
                    </a:lnTo>
                    <a:cubicBezTo>
                      <a:pt x="10686" y="294994"/>
                      <a:pt x="6987" y="293462"/>
                      <a:pt x="4259" y="290734"/>
                    </a:cubicBezTo>
                    <a:cubicBezTo>
                      <a:pt x="1532" y="288007"/>
                      <a:pt x="0" y="284308"/>
                      <a:pt x="0" y="280451"/>
                    </a:cubicBezTo>
                    <a:lnTo>
                      <a:pt x="0" y="14543"/>
                    </a:lnTo>
                    <a:cubicBezTo>
                      <a:pt x="0" y="10686"/>
                      <a:pt x="1532" y="6987"/>
                      <a:pt x="4259" y="4259"/>
                    </a:cubicBezTo>
                    <a:cubicBezTo>
                      <a:pt x="6987" y="1532"/>
                      <a:pt x="10686" y="0"/>
                      <a:pt x="14543" y="0"/>
                    </a:cubicBezTo>
                    <a:lnTo>
                      <a:pt x="1695674" y="0"/>
                    </a:lnTo>
                    <a:cubicBezTo>
                      <a:pt x="1699531" y="0"/>
                      <a:pt x="1703230" y="1532"/>
                      <a:pt x="1705957" y="4259"/>
                    </a:cubicBezTo>
                    <a:cubicBezTo>
                      <a:pt x="1708685" y="6987"/>
                      <a:pt x="1710217" y="10686"/>
                      <a:pt x="1710217" y="14543"/>
                    </a:cubicBezTo>
                    <a:close/>
                  </a:path>
                </a:pathLst>
              </a:custGeom>
              <a:solidFill>
                <a:srgbClr val="FFFFFF"/>
              </a:solidFill>
              <a:ln w="19050" cap="sq">
                <a:solidFill>
                  <a:srgbClr val="EC721E"/>
                </a:solidFill>
                <a:prstDash val="solid"/>
                <a:miter/>
              </a:ln>
            </p:spPr>
          </p:sp>
          <p:sp>
            <p:nvSpPr>
              <p:cNvPr id="25" name="TextBox 25"/>
              <p:cNvSpPr txBox="1"/>
              <p:nvPr/>
            </p:nvSpPr>
            <p:spPr>
              <a:xfrm>
                <a:off x="0" y="-57150"/>
                <a:ext cx="1710217" cy="352144"/>
              </a:xfrm>
              <a:prstGeom prst="rect">
                <a:avLst/>
              </a:prstGeom>
            </p:spPr>
            <p:txBody>
              <a:bodyPr lIns="50800" tIns="50800" rIns="50800" bIns="50800" rtlCol="0" anchor="ctr"/>
              <a:lstStyle/>
              <a:p>
                <a:pPr algn="ctr">
                  <a:lnSpc>
                    <a:spcPts val="1944"/>
                  </a:lnSpc>
                </a:pPr>
                <a:endParaRPr/>
              </a:p>
            </p:txBody>
          </p:sp>
        </p:grpSp>
        <p:sp>
          <p:nvSpPr>
            <p:cNvPr id="26" name="TextBox 26"/>
            <p:cNvSpPr txBox="1"/>
            <p:nvPr/>
          </p:nvSpPr>
          <p:spPr>
            <a:xfrm>
              <a:off x="244140" y="301164"/>
              <a:ext cx="7204400" cy="593218"/>
            </a:xfrm>
            <a:prstGeom prst="rect">
              <a:avLst/>
            </a:prstGeom>
          </p:spPr>
          <p:txBody>
            <a:bodyPr lIns="0" tIns="0" rIns="0" bIns="0" rtlCol="0" anchor="t">
              <a:spAutoFit/>
            </a:bodyPr>
            <a:lstStyle/>
            <a:p>
              <a:pPr algn="l">
                <a:lnSpc>
                  <a:spcPts val="3348"/>
                </a:lnSpc>
              </a:pPr>
              <a:r>
                <a:rPr lang="en-US" sz="3100" b="1">
                  <a:solidFill>
                    <a:srgbClr val="000000"/>
                  </a:solidFill>
                  <a:latin typeface="DM Sans Bold"/>
                  <a:ea typeface="DM Sans Bold"/>
                  <a:cs typeface="DM Sans Bold"/>
                  <a:sym typeface="DM Sans Bold"/>
                </a:rPr>
                <a:t>ELECTRICAL DEPARTMENT</a:t>
              </a:r>
            </a:p>
          </p:txBody>
        </p:sp>
      </p:grpSp>
      <p:pic>
        <p:nvPicPr>
          <p:cNvPr id="27" name="Picture 27"/>
          <p:cNvPicPr>
            <a:picLocks noChangeAspect="1"/>
          </p:cNvPicPr>
          <p:nvPr/>
        </p:nvPicPr>
        <p:blipFill>
          <a:blip r:embed="rId3"/>
          <a:stretch>
            <a:fillRect/>
          </a:stretch>
        </p:blipFill>
        <p:spPr>
          <a:xfrm>
            <a:off x="9385604" y="4064873"/>
            <a:ext cx="8813273" cy="6946124"/>
          </a:xfrm>
          <a:prstGeom prst="rect">
            <a:avLst/>
          </a:prstGeom>
        </p:spPr>
      </p:pic>
      <p:grpSp>
        <p:nvGrpSpPr>
          <p:cNvPr id="28" name="Group 28"/>
          <p:cNvGrpSpPr/>
          <p:nvPr/>
        </p:nvGrpSpPr>
        <p:grpSpPr>
          <a:xfrm>
            <a:off x="7761126" y="7610785"/>
            <a:ext cx="2294783" cy="2294783"/>
            <a:chOff x="0" y="0"/>
            <a:chExt cx="604387" cy="604387"/>
          </a:xfrm>
        </p:grpSpPr>
        <p:sp>
          <p:nvSpPr>
            <p:cNvPr id="29" name="Freeform 29"/>
            <p:cNvSpPr/>
            <p:nvPr/>
          </p:nvSpPr>
          <p:spPr>
            <a:xfrm>
              <a:off x="0" y="0"/>
              <a:ext cx="604387" cy="604387"/>
            </a:xfrm>
            <a:custGeom>
              <a:avLst/>
              <a:gdLst/>
              <a:ahLst/>
              <a:cxnLst/>
              <a:rect l="l" t="t" r="r" b="b"/>
              <a:pathLst>
                <a:path w="604387" h="604387">
                  <a:moveTo>
                    <a:pt x="97837" y="0"/>
                  </a:moveTo>
                  <a:lnTo>
                    <a:pt x="506550" y="0"/>
                  </a:lnTo>
                  <a:cubicBezTo>
                    <a:pt x="560584" y="0"/>
                    <a:pt x="604387" y="43803"/>
                    <a:pt x="604387" y="97837"/>
                  </a:cubicBezTo>
                  <a:lnTo>
                    <a:pt x="604387" y="506550"/>
                  </a:lnTo>
                  <a:cubicBezTo>
                    <a:pt x="604387" y="560584"/>
                    <a:pt x="560584" y="604387"/>
                    <a:pt x="506550" y="604387"/>
                  </a:cubicBezTo>
                  <a:lnTo>
                    <a:pt x="97837" y="604387"/>
                  </a:lnTo>
                  <a:cubicBezTo>
                    <a:pt x="43803" y="604387"/>
                    <a:pt x="0" y="560584"/>
                    <a:pt x="0" y="506550"/>
                  </a:cubicBezTo>
                  <a:lnTo>
                    <a:pt x="0" y="97837"/>
                  </a:lnTo>
                  <a:cubicBezTo>
                    <a:pt x="0" y="43803"/>
                    <a:pt x="43803" y="0"/>
                    <a:pt x="97837" y="0"/>
                  </a:cubicBezTo>
                  <a:close/>
                </a:path>
              </a:pathLst>
            </a:custGeom>
            <a:solidFill>
              <a:srgbClr val="EC721E"/>
            </a:solidFill>
          </p:spPr>
        </p:sp>
        <p:sp>
          <p:nvSpPr>
            <p:cNvPr id="30" name="TextBox 30"/>
            <p:cNvSpPr txBox="1"/>
            <p:nvPr/>
          </p:nvSpPr>
          <p:spPr>
            <a:xfrm>
              <a:off x="0" y="-95250"/>
              <a:ext cx="604387" cy="699637"/>
            </a:xfrm>
            <a:prstGeom prst="rect">
              <a:avLst/>
            </a:prstGeom>
          </p:spPr>
          <p:txBody>
            <a:bodyPr lIns="50800" tIns="50800" rIns="50800" bIns="50800" rtlCol="0" anchor="ctr"/>
            <a:lstStyle/>
            <a:p>
              <a:pPr algn="ctr">
                <a:lnSpc>
                  <a:spcPts val="3401"/>
                </a:lnSpc>
              </a:pPr>
              <a:endParaRPr/>
            </a:p>
          </p:txBody>
        </p:sp>
      </p:grpSp>
      <p:sp>
        <p:nvSpPr>
          <p:cNvPr id="31" name="TextBox 31"/>
          <p:cNvSpPr txBox="1"/>
          <p:nvPr/>
        </p:nvSpPr>
        <p:spPr>
          <a:xfrm>
            <a:off x="481602" y="646176"/>
            <a:ext cx="5593727" cy="726948"/>
          </a:xfrm>
          <a:prstGeom prst="rect">
            <a:avLst/>
          </a:prstGeom>
        </p:spPr>
        <p:txBody>
          <a:bodyPr lIns="0" tIns="0" rIns="0" bIns="0" rtlCol="0" anchor="t">
            <a:spAutoFit/>
          </a:bodyPr>
          <a:lstStyle/>
          <a:p>
            <a:pPr algn="l">
              <a:lnSpc>
                <a:spcPts val="5615"/>
              </a:lnSpc>
            </a:pPr>
            <a:r>
              <a:rPr lang="en-US" sz="5199" b="1">
                <a:solidFill>
                  <a:srgbClr val="EC721E"/>
                </a:solidFill>
                <a:latin typeface="DM Sans Bold"/>
                <a:ea typeface="DM Sans Bold"/>
                <a:cs typeface="DM Sans Bold"/>
                <a:sym typeface="DM Sans Bold"/>
              </a:rPr>
              <a:t>KEY RESULTS - </a:t>
            </a:r>
          </a:p>
        </p:txBody>
      </p:sp>
      <p:sp>
        <p:nvSpPr>
          <p:cNvPr id="32" name="TextBox 32"/>
          <p:cNvSpPr txBox="1"/>
          <p:nvPr/>
        </p:nvSpPr>
        <p:spPr>
          <a:xfrm>
            <a:off x="481602" y="1363599"/>
            <a:ext cx="16777698" cy="1209752"/>
          </a:xfrm>
          <a:prstGeom prst="rect">
            <a:avLst/>
          </a:prstGeom>
        </p:spPr>
        <p:txBody>
          <a:bodyPr lIns="0" tIns="0" rIns="0" bIns="0" rtlCol="0" anchor="t">
            <a:spAutoFit/>
          </a:bodyPr>
          <a:lstStyle/>
          <a:p>
            <a:pPr algn="l">
              <a:lnSpc>
                <a:spcPts val="3263"/>
              </a:lnSpc>
            </a:pPr>
            <a:r>
              <a:rPr lang="en-US" sz="2219">
                <a:solidFill>
                  <a:srgbClr val="000000"/>
                </a:solidFill>
                <a:latin typeface="DM Sans"/>
                <a:ea typeface="DM Sans"/>
                <a:cs typeface="DM Sans"/>
                <a:sym typeface="DM Sans"/>
              </a:rPr>
              <a:t>The descriptive analysis average shows the average contribution of UTME and PUTME in the total score that is used to gain admission. The total score for admission is calculated as UTME/8 + PUTME = Total score. If the total score is greater than or equal to 50, then the student gets admission.</a:t>
            </a:r>
          </a:p>
        </p:txBody>
      </p:sp>
      <p:sp>
        <p:nvSpPr>
          <p:cNvPr id="33" name="TextBox 33"/>
          <p:cNvSpPr txBox="1"/>
          <p:nvPr/>
        </p:nvSpPr>
        <p:spPr>
          <a:xfrm>
            <a:off x="5402856" y="632778"/>
            <a:ext cx="10401836" cy="629919"/>
          </a:xfrm>
          <a:prstGeom prst="rect">
            <a:avLst/>
          </a:prstGeom>
        </p:spPr>
        <p:txBody>
          <a:bodyPr lIns="0" tIns="0" rIns="0" bIns="0" rtlCol="0" anchor="t">
            <a:spAutoFit/>
          </a:bodyPr>
          <a:lstStyle/>
          <a:p>
            <a:pPr algn="l">
              <a:lnSpc>
                <a:spcPts val="5180"/>
              </a:lnSpc>
            </a:pPr>
            <a:r>
              <a:rPr lang="en-US" sz="3700" b="1">
                <a:solidFill>
                  <a:srgbClr val="000000"/>
                </a:solidFill>
                <a:latin typeface="DM Sans Bold"/>
                <a:ea typeface="DM Sans Bold"/>
                <a:cs typeface="DM Sans Bold"/>
                <a:sym typeface="DM Sans Bold"/>
              </a:rPr>
              <a:t>Contribution Both Exam Played in Total score</a:t>
            </a:r>
          </a:p>
        </p:txBody>
      </p:sp>
      <p:sp>
        <p:nvSpPr>
          <p:cNvPr id="34" name="TextBox 34"/>
          <p:cNvSpPr txBox="1"/>
          <p:nvPr/>
        </p:nvSpPr>
        <p:spPr>
          <a:xfrm>
            <a:off x="7696992" y="7872548"/>
            <a:ext cx="2423051" cy="2036729"/>
          </a:xfrm>
          <a:prstGeom prst="rect">
            <a:avLst/>
          </a:prstGeom>
        </p:spPr>
        <p:txBody>
          <a:bodyPr lIns="0" tIns="0" rIns="0" bIns="0" rtlCol="0" anchor="t">
            <a:spAutoFit/>
          </a:bodyPr>
          <a:lstStyle/>
          <a:p>
            <a:pPr algn="ctr">
              <a:lnSpc>
                <a:spcPts val="3239"/>
              </a:lnSpc>
            </a:pPr>
            <a:r>
              <a:rPr lang="en-US" sz="2313" b="1">
                <a:solidFill>
                  <a:srgbClr val="FFFFFF"/>
                </a:solidFill>
                <a:latin typeface="DM Sans Bold"/>
                <a:ea typeface="DM Sans Bold"/>
                <a:cs typeface="DM Sans Bold"/>
                <a:sym typeface="DM Sans Bold"/>
              </a:rPr>
              <a:t>PUTME scores significantly higher than UTME.</a:t>
            </a:r>
          </a:p>
          <a:p>
            <a:pPr algn="ctr">
              <a:lnSpc>
                <a:spcPts val="3239"/>
              </a:lnSpc>
            </a:pPr>
            <a:endParaRPr lang="en-US" sz="2313" b="1">
              <a:solidFill>
                <a:srgbClr val="FFFFFF"/>
              </a:solidFill>
              <a:latin typeface="DM Sans Bold"/>
              <a:ea typeface="DM Sans Bold"/>
              <a:cs typeface="DM Sans Bold"/>
              <a:sym typeface="DM Sans Bold"/>
            </a:endParaRPr>
          </a:p>
        </p:txBody>
      </p:sp>
    </p:spTree>
  </p:cSld>
  <p:clrMapOvr>
    <a:masterClrMapping/>
  </p:clrMapOvr>
  <p:transition spd="slow">
    <p:cover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9989" y="9258300"/>
            <a:ext cx="136837" cy="730002"/>
            <a:chOff x="0" y="0"/>
            <a:chExt cx="182450" cy="973336"/>
          </a:xfrm>
        </p:grpSpPr>
        <p:grpSp>
          <p:nvGrpSpPr>
            <p:cNvPr id="3" name="Group 3"/>
            <p:cNvGrpSpPr/>
            <p:nvPr/>
          </p:nvGrpSpPr>
          <p:grpSpPr>
            <a:xfrm>
              <a:off x="0" y="790886"/>
              <a:ext cx="182450" cy="18245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5" name="TextBox 5"/>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6" name="Group 6"/>
            <p:cNvGrpSpPr/>
            <p:nvPr/>
          </p:nvGrpSpPr>
          <p:grpSpPr>
            <a:xfrm>
              <a:off x="0" y="395443"/>
              <a:ext cx="182450" cy="18245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9" name="Group 9"/>
            <p:cNvGrpSpPr/>
            <p:nvPr/>
          </p:nvGrpSpPr>
          <p:grpSpPr>
            <a:xfrm>
              <a:off x="0" y="0"/>
              <a:ext cx="182450" cy="18245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1" name="TextBox 11"/>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graphicFrame>
        <p:nvGraphicFramePr>
          <p:cNvPr id="12" name="Table 12"/>
          <p:cNvGraphicFramePr>
            <a:graphicFrameLocks noGrp="1"/>
          </p:cNvGraphicFramePr>
          <p:nvPr/>
        </p:nvGraphicFramePr>
        <p:xfrm>
          <a:off x="481602" y="2547596"/>
          <a:ext cx="6376516" cy="3333750"/>
        </p:xfrm>
        <a:graphic>
          <a:graphicData uri="http://schemas.openxmlformats.org/drawingml/2006/table">
            <a:tbl>
              <a:tblPr/>
              <a:tblGrid>
                <a:gridCol w="3354671">
                  <a:extLst>
                    <a:ext uri="{9D8B030D-6E8A-4147-A177-3AD203B41FA5}">
                      <a16:colId xmlns:a16="http://schemas.microsoft.com/office/drawing/2014/main" val="20000"/>
                    </a:ext>
                  </a:extLst>
                </a:gridCol>
                <a:gridCol w="3021845">
                  <a:extLst>
                    <a:ext uri="{9D8B030D-6E8A-4147-A177-3AD203B41FA5}">
                      <a16:colId xmlns:a16="http://schemas.microsoft.com/office/drawing/2014/main" val="20001"/>
                    </a:ext>
                  </a:extLst>
                </a:gridCol>
              </a:tblGrid>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Coeffient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b="1">
                          <a:solidFill>
                            <a:srgbClr val="000000"/>
                          </a:solidFill>
                          <a:latin typeface="DM Sans Bold"/>
                          <a:ea typeface="DM Sans Bold"/>
                          <a:cs typeface="DM Sans Bold"/>
                          <a:sym typeface="DM Sans Bold"/>
                        </a:rPr>
                        <a:t>Influence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Intercept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3.974905268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b0(UTME)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3.49959444074845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47890">
                <a:tc>
                  <a:txBody>
                    <a:bodyPr/>
                    <a:lstStyle/>
                    <a:p>
                      <a:pPr algn="ctr">
                        <a:lnSpc>
                          <a:spcPts val="3079"/>
                        </a:lnSpc>
                        <a:defRPr/>
                      </a:pPr>
                      <a:r>
                        <a:rPr lang="en-US" sz="2199" b="1">
                          <a:solidFill>
                            <a:srgbClr val="000000"/>
                          </a:solidFill>
                          <a:latin typeface="DM Sans Bold"/>
                          <a:ea typeface="DM Sans Bold"/>
                          <a:cs typeface="DM Sans Bold"/>
                          <a:sym typeface="DM Sans Bold"/>
                        </a:rPr>
                        <a:t>b1(PUTME)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7.44557593298092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3" name="Table 13"/>
          <p:cNvGraphicFramePr>
            <a:graphicFrameLocks noGrp="1"/>
          </p:cNvGraphicFramePr>
          <p:nvPr/>
        </p:nvGraphicFramePr>
        <p:xfrm>
          <a:off x="481602" y="6654552"/>
          <a:ext cx="6376516" cy="3333750"/>
        </p:xfrm>
        <a:graphic>
          <a:graphicData uri="http://schemas.openxmlformats.org/drawingml/2006/table">
            <a:tbl>
              <a:tblPr/>
              <a:tblGrid>
                <a:gridCol w="3485986">
                  <a:extLst>
                    <a:ext uri="{9D8B030D-6E8A-4147-A177-3AD203B41FA5}">
                      <a16:colId xmlns:a16="http://schemas.microsoft.com/office/drawing/2014/main" val="20000"/>
                    </a:ext>
                  </a:extLst>
                </a:gridCol>
                <a:gridCol w="2890530">
                  <a:extLst>
                    <a:ext uri="{9D8B030D-6E8A-4147-A177-3AD203B41FA5}">
                      <a16:colId xmlns:a16="http://schemas.microsoft.com/office/drawing/2014/main" val="20001"/>
                    </a:ext>
                  </a:extLst>
                </a:gridCol>
              </a:tblGrid>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Coeffient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b="1">
                          <a:solidFill>
                            <a:srgbClr val="000000"/>
                          </a:solidFill>
                          <a:latin typeface="DM Sans Bold"/>
                          <a:ea typeface="DM Sans Bold"/>
                          <a:cs typeface="DM Sans Bold"/>
                          <a:sym typeface="DM Sans Bold"/>
                        </a:rPr>
                        <a:t>Influence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Intercept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3.685336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8620">
                <a:tc>
                  <a:txBody>
                    <a:bodyPr/>
                    <a:lstStyle/>
                    <a:p>
                      <a:pPr algn="ctr">
                        <a:lnSpc>
                          <a:spcPts val="2939"/>
                        </a:lnSpc>
                        <a:defRPr/>
                      </a:pPr>
                      <a:r>
                        <a:rPr lang="en-US" sz="2099" b="1">
                          <a:solidFill>
                            <a:srgbClr val="000000"/>
                          </a:solidFill>
                          <a:latin typeface="DM Sans Bold"/>
                          <a:ea typeface="DM Sans Bold"/>
                          <a:cs typeface="DM Sans Bold"/>
                          <a:sym typeface="DM Sans Bold"/>
                        </a:rPr>
                        <a:t>b0(UTME)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4.374758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47890">
                <a:tc>
                  <a:txBody>
                    <a:bodyPr/>
                    <a:lstStyle/>
                    <a:p>
                      <a:pPr algn="ctr">
                        <a:lnSpc>
                          <a:spcPts val="3079"/>
                        </a:lnSpc>
                        <a:defRPr/>
                      </a:pPr>
                      <a:r>
                        <a:rPr lang="en-US" sz="2199" b="1">
                          <a:solidFill>
                            <a:srgbClr val="000000"/>
                          </a:solidFill>
                          <a:latin typeface="DM Sans Bold"/>
                          <a:ea typeface="DM Sans Bold"/>
                          <a:cs typeface="DM Sans Bold"/>
                          <a:sym typeface="DM Sans Bold"/>
                        </a:rPr>
                        <a:t>b1(PUTME)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DM Sans"/>
                          <a:ea typeface="DM Sans"/>
                          <a:cs typeface="DM Sans"/>
                          <a:sym typeface="DM Sans"/>
                        </a:rPr>
                        <a:t>9.0201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14" name="Group 14"/>
          <p:cNvGrpSpPr/>
          <p:nvPr/>
        </p:nvGrpSpPr>
        <p:grpSpPr>
          <a:xfrm>
            <a:off x="2280010" y="1890371"/>
            <a:ext cx="2779700" cy="571500"/>
            <a:chOff x="0" y="0"/>
            <a:chExt cx="3706266" cy="762000"/>
          </a:xfrm>
        </p:grpSpPr>
        <p:grpSp>
          <p:nvGrpSpPr>
            <p:cNvPr id="15" name="Group 15"/>
            <p:cNvGrpSpPr/>
            <p:nvPr/>
          </p:nvGrpSpPr>
          <p:grpSpPr>
            <a:xfrm rot="-10800000">
              <a:off x="0" y="0"/>
              <a:ext cx="3706266" cy="762000"/>
              <a:chOff x="0" y="0"/>
              <a:chExt cx="1710217" cy="351664"/>
            </a:xfrm>
          </p:grpSpPr>
          <p:sp>
            <p:nvSpPr>
              <p:cNvPr id="16" name="Freeform 16"/>
              <p:cNvSpPr/>
              <p:nvPr/>
            </p:nvSpPr>
            <p:spPr>
              <a:xfrm>
                <a:off x="0" y="0"/>
                <a:ext cx="1710217" cy="351664"/>
              </a:xfrm>
              <a:custGeom>
                <a:avLst/>
                <a:gdLst/>
                <a:ahLst/>
                <a:cxnLst/>
                <a:rect l="l" t="t" r="r" b="b"/>
                <a:pathLst>
                  <a:path w="1710217" h="351664">
                    <a:moveTo>
                      <a:pt x="1710217" y="18186"/>
                    </a:moveTo>
                    <a:lnTo>
                      <a:pt x="1710217" y="333477"/>
                    </a:lnTo>
                    <a:cubicBezTo>
                      <a:pt x="1710217" y="343521"/>
                      <a:pt x="1702074" y="351664"/>
                      <a:pt x="1692030" y="351664"/>
                    </a:cubicBezTo>
                    <a:lnTo>
                      <a:pt x="18186" y="351664"/>
                    </a:lnTo>
                    <a:cubicBezTo>
                      <a:pt x="8142" y="351664"/>
                      <a:pt x="0" y="343521"/>
                      <a:pt x="0" y="333477"/>
                    </a:cubicBezTo>
                    <a:lnTo>
                      <a:pt x="0" y="18186"/>
                    </a:lnTo>
                    <a:cubicBezTo>
                      <a:pt x="0" y="8142"/>
                      <a:pt x="8142" y="0"/>
                      <a:pt x="18186" y="0"/>
                    </a:cubicBezTo>
                    <a:lnTo>
                      <a:pt x="1692030" y="0"/>
                    </a:lnTo>
                    <a:cubicBezTo>
                      <a:pt x="1696854" y="0"/>
                      <a:pt x="1701479" y="1916"/>
                      <a:pt x="1704890" y="5327"/>
                    </a:cubicBezTo>
                    <a:cubicBezTo>
                      <a:pt x="1708301" y="8737"/>
                      <a:pt x="1710217" y="13363"/>
                      <a:pt x="1710217" y="18186"/>
                    </a:cubicBezTo>
                    <a:close/>
                  </a:path>
                </a:pathLst>
              </a:custGeom>
              <a:solidFill>
                <a:srgbClr val="FFFFFF"/>
              </a:solidFill>
              <a:ln w="19050" cap="sq">
                <a:solidFill>
                  <a:srgbClr val="EC721E"/>
                </a:solidFill>
                <a:prstDash val="solid"/>
                <a:miter/>
              </a:ln>
            </p:spPr>
          </p:sp>
          <p:sp>
            <p:nvSpPr>
              <p:cNvPr id="17" name="TextBox 17"/>
              <p:cNvSpPr txBox="1"/>
              <p:nvPr/>
            </p:nvSpPr>
            <p:spPr>
              <a:xfrm>
                <a:off x="0" y="-57150"/>
                <a:ext cx="1710217" cy="408814"/>
              </a:xfrm>
              <a:prstGeom prst="rect">
                <a:avLst/>
              </a:prstGeom>
            </p:spPr>
            <p:txBody>
              <a:bodyPr lIns="50800" tIns="50800" rIns="50800" bIns="50800" rtlCol="0" anchor="ctr"/>
              <a:lstStyle/>
              <a:p>
                <a:pPr algn="ctr">
                  <a:lnSpc>
                    <a:spcPts val="1944"/>
                  </a:lnSpc>
                </a:pPr>
                <a:endParaRPr/>
              </a:p>
            </p:txBody>
          </p:sp>
        </p:grpSp>
        <p:sp>
          <p:nvSpPr>
            <p:cNvPr id="18" name="TextBox 18"/>
            <p:cNvSpPr txBox="1"/>
            <p:nvPr/>
          </p:nvSpPr>
          <p:spPr>
            <a:xfrm>
              <a:off x="159417" y="206568"/>
              <a:ext cx="3546850" cy="377439"/>
            </a:xfrm>
            <a:prstGeom prst="rect">
              <a:avLst/>
            </a:prstGeom>
          </p:spPr>
          <p:txBody>
            <a:bodyPr lIns="0" tIns="0" rIns="0" bIns="0" rtlCol="0" anchor="t">
              <a:spAutoFit/>
            </a:bodyPr>
            <a:lstStyle/>
            <a:p>
              <a:pPr algn="l">
                <a:lnSpc>
                  <a:spcPts val="2186"/>
                </a:lnSpc>
              </a:pPr>
              <a:r>
                <a:rPr lang="en-US" sz="2024" b="1">
                  <a:solidFill>
                    <a:srgbClr val="000000"/>
                  </a:solidFill>
                  <a:latin typeface="DM Sans Bold"/>
                  <a:ea typeface="DM Sans Bold"/>
                  <a:cs typeface="DM Sans Bold"/>
                  <a:sym typeface="DM Sans Bold"/>
                </a:rPr>
                <a:t>COMPUTER SCIENCE</a:t>
              </a:r>
            </a:p>
          </p:txBody>
        </p:sp>
      </p:grpSp>
      <p:grpSp>
        <p:nvGrpSpPr>
          <p:cNvPr id="19" name="Group 19"/>
          <p:cNvGrpSpPr/>
          <p:nvPr/>
        </p:nvGrpSpPr>
        <p:grpSpPr>
          <a:xfrm>
            <a:off x="2061750" y="6002006"/>
            <a:ext cx="3477281" cy="571500"/>
            <a:chOff x="0" y="0"/>
            <a:chExt cx="4636374" cy="762000"/>
          </a:xfrm>
        </p:grpSpPr>
        <p:grpSp>
          <p:nvGrpSpPr>
            <p:cNvPr id="20" name="Group 20"/>
            <p:cNvGrpSpPr/>
            <p:nvPr/>
          </p:nvGrpSpPr>
          <p:grpSpPr>
            <a:xfrm rot="-10800000">
              <a:off x="0" y="0"/>
              <a:ext cx="4418262" cy="762000"/>
              <a:chOff x="0" y="0"/>
              <a:chExt cx="1710217" cy="294994"/>
            </a:xfrm>
          </p:grpSpPr>
          <p:sp>
            <p:nvSpPr>
              <p:cNvPr id="21" name="Freeform 21"/>
              <p:cNvSpPr/>
              <p:nvPr/>
            </p:nvSpPr>
            <p:spPr>
              <a:xfrm>
                <a:off x="0" y="0"/>
                <a:ext cx="1710217" cy="294994"/>
              </a:xfrm>
              <a:custGeom>
                <a:avLst/>
                <a:gdLst/>
                <a:ahLst/>
                <a:cxnLst/>
                <a:rect l="l" t="t" r="r" b="b"/>
                <a:pathLst>
                  <a:path w="1710217" h="294994">
                    <a:moveTo>
                      <a:pt x="1710217" y="14543"/>
                    </a:moveTo>
                    <a:lnTo>
                      <a:pt x="1710217" y="280451"/>
                    </a:lnTo>
                    <a:cubicBezTo>
                      <a:pt x="1710217" y="284308"/>
                      <a:pt x="1708685" y="288007"/>
                      <a:pt x="1705957" y="290734"/>
                    </a:cubicBezTo>
                    <a:cubicBezTo>
                      <a:pt x="1703230" y="293462"/>
                      <a:pt x="1699531" y="294994"/>
                      <a:pt x="1695674" y="294994"/>
                    </a:cubicBezTo>
                    <a:lnTo>
                      <a:pt x="14543" y="294994"/>
                    </a:lnTo>
                    <a:cubicBezTo>
                      <a:pt x="10686" y="294994"/>
                      <a:pt x="6987" y="293462"/>
                      <a:pt x="4259" y="290734"/>
                    </a:cubicBezTo>
                    <a:cubicBezTo>
                      <a:pt x="1532" y="288007"/>
                      <a:pt x="0" y="284308"/>
                      <a:pt x="0" y="280451"/>
                    </a:cubicBezTo>
                    <a:lnTo>
                      <a:pt x="0" y="14543"/>
                    </a:lnTo>
                    <a:cubicBezTo>
                      <a:pt x="0" y="10686"/>
                      <a:pt x="1532" y="6987"/>
                      <a:pt x="4259" y="4259"/>
                    </a:cubicBezTo>
                    <a:cubicBezTo>
                      <a:pt x="6987" y="1532"/>
                      <a:pt x="10686" y="0"/>
                      <a:pt x="14543" y="0"/>
                    </a:cubicBezTo>
                    <a:lnTo>
                      <a:pt x="1695674" y="0"/>
                    </a:lnTo>
                    <a:cubicBezTo>
                      <a:pt x="1699531" y="0"/>
                      <a:pt x="1703230" y="1532"/>
                      <a:pt x="1705957" y="4259"/>
                    </a:cubicBezTo>
                    <a:cubicBezTo>
                      <a:pt x="1708685" y="6987"/>
                      <a:pt x="1710217" y="10686"/>
                      <a:pt x="1710217" y="14543"/>
                    </a:cubicBezTo>
                    <a:close/>
                  </a:path>
                </a:pathLst>
              </a:custGeom>
              <a:solidFill>
                <a:srgbClr val="FFFFFF"/>
              </a:solidFill>
              <a:ln w="19050" cap="sq">
                <a:solidFill>
                  <a:srgbClr val="EC721E"/>
                </a:solidFill>
                <a:prstDash val="solid"/>
                <a:miter/>
              </a:ln>
            </p:spPr>
          </p:sp>
          <p:sp>
            <p:nvSpPr>
              <p:cNvPr id="22" name="TextBox 22"/>
              <p:cNvSpPr txBox="1"/>
              <p:nvPr/>
            </p:nvSpPr>
            <p:spPr>
              <a:xfrm>
                <a:off x="0" y="-57150"/>
                <a:ext cx="1710217" cy="352144"/>
              </a:xfrm>
              <a:prstGeom prst="rect">
                <a:avLst/>
              </a:prstGeom>
            </p:spPr>
            <p:txBody>
              <a:bodyPr lIns="50800" tIns="50800" rIns="50800" bIns="50800" rtlCol="0" anchor="ctr"/>
              <a:lstStyle/>
              <a:p>
                <a:pPr algn="ctr">
                  <a:lnSpc>
                    <a:spcPts val="1944"/>
                  </a:lnSpc>
                </a:pPr>
                <a:endParaRPr/>
              </a:p>
            </p:txBody>
          </p:sp>
        </p:grpSp>
        <p:sp>
          <p:nvSpPr>
            <p:cNvPr id="23" name="TextBox 23"/>
            <p:cNvSpPr txBox="1"/>
            <p:nvPr/>
          </p:nvSpPr>
          <p:spPr>
            <a:xfrm>
              <a:off x="151966" y="198249"/>
              <a:ext cx="4484409" cy="358463"/>
            </a:xfrm>
            <a:prstGeom prst="rect">
              <a:avLst/>
            </a:prstGeom>
          </p:spPr>
          <p:txBody>
            <a:bodyPr lIns="0" tIns="0" rIns="0" bIns="0" rtlCol="0" anchor="t">
              <a:spAutoFit/>
            </a:bodyPr>
            <a:lstStyle/>
            <a:p>
              <a:pPr algn="l">
                <a:lnSpc>
                  <a:spcPts val="2084"/>
                </a:lnSpc>
              </a:pPr>
              <a:r>
                <a:rPr lang="en-US" sz="1929" b="1">
                  <a:solidFill>
                    <a:srgbClr val="000000"/>
                  </a:solidFill>
                  <a:latin typeface="DM Sans Bold"/>
                  <a:ea typeface="DM Sans Bold"/>
                  <a:cs typeface="DM Sans Bold"/>
                  <a:sym typeface="DM Sans Bold"/>
                </a:rPr>
                <a:t>ELECTRICAL DEPARTMENT</a:t>
              </a:r>
            </a:p>
          </p:txBody>
        </p:sp>
      </p:grpSp>
      <p:sp>
        <p:nvSpPr>
          <p:cNvPr id="24" name="Freeform 24"/>
          <p:cNvSpPr/>
          <p:nvPr/>
        </p:nvSpPr>
        <p:spPr>
          <a:xfrm>
            <a:off x="8381816" y="322682"/>
            <a:ext cx="8421078" cy="4852646"/>
          </a:xfrm>
          <a:custGeom>
            <a:avLst/>
            <a:gdLst/>
            <a:ahLst/>
            <a:cxnLst/>
            <a:rect l="l" t="t" r="r" b="b"/>
            <a:pathLst>
              <a:path w="8421078" h="4852646">
                <a:moveTo>
                  <a:pt x="0" y="0"/>
                </a:moveTo>
                <a:lnTo>
                  <a:pt x="8421078" y="0"/>
                </a:lnTo>
                <a:lnTo>
                  <a:pt x="8421078" y="4852646"/>
                </a:lnTo>
                <a:lnTo>
                  <a:pt x="0" y="4852646"/>
                </a:lnTo>
                <a:lnTo>
                  <a:pt x="0" y="0"/>
                </a:lnTo>
                <a:close/>
              </a:path>
            </a:pathLst>
          </a:custGeom>
          <a:blipFill>
            <a:blip r:embed="rId2"/>
            <a:stretch>
              <a:fillRect/>
            </a:stretch>
          </a:blipFill>
        </p:spPr>
      </p:sp>
      <p:sp>
        <p:nvSpPr>
          <p:cNvPr id="25" name="Freeform 25"/>
          <p:cNvSpPr/>
          <p:nvPr/>
        </p:nvSpPr>
        <p:spPr>
          <a:xfrm>
            <a:off x="8410542" y="5306253"/>
            <a:ext cx="8363626" cy="4682049"/>
          </a:xfrm>
          <a:custGeom>
            <a:avLst/>
            <a:gdLst/>
            <a:ahLst/>
            <a:cxnLst/>
            <a:rect l="l" t="t" r="r" b="b"/>
            <a:pathLst>
              <a:path w="8363626" h="4682049">
                <a:moveTo>
                  <a:pt x="0" y="0"/>
                </a:moveTo>
                <a:lnTo>
                  <a:pt x="8363626" y="0"/>
                </a:lnTo>
                <a:lnTo>
                  <a:pt x="8363626" y="4682049"/>
                </a:lnTo>
                <a:lnTo>
                  <a:pt x="0" y="4682049"/>
                </a:lnTo>
                <a:lnTo>
                  <a:pt x="0" y="0"/>
                </a:lnTo>
                <a:close/>
              </a:path>
            </a:pathLst>
          </a:custGeom>
          <a:blipFill>
            <a:blip r:embed="rId3"/>
            <a:stretch>
              <a:fillRect t="-1021" b="-1021"/>
            </a:stretch>
          </a:blipFill>
        </p:spPr>
      </p:sp>
      <p:sp>
        <p:nvSpPr>
          <p:cNvPr id="26" name="TextBox 26"/>
          <p:cNvSpPr txBox="1"/>
          <p:nvPr/>
        </p:nvSpPr>
        <p:spPr>
          <a:xfrm>
            <a:off x="481602" y="370307"/>
            <a:ext cx="6922501" cy="1364412"/>
          </a:xfrm>
          <a:prstGeom prst="rect">
            <a:avLst/>
          </a:prstGeom>
        </p:spPr>
        <p:txBody>
          <a:bodyPr lIns="0" tIns="0" rIns="0" bIns="0" rtlCol="0" anchor="t">
            <a:spAutoFit/>
          </a:bodyPr>
          <a:lstStyle/>
          <a:p>
            <a:pPr algn="l">
              <a:lnSpc>
                <a:spcPts val="5325"/>
              </a:lnSpc>
            </a:pPr>
            <a:r>
              <a:rPr lang="en-US" sz="4931" b="1">
                <a:solidFill>
                  <a:srgbClr val="000000"/>
                </a:solidFill>
                <a:latin typeface="DM Sans Bold"/>
                <a:ea typeface="DM Sans Bold"/>
                <a:cs typeface="DM Sans Bold"/>
                <a:sym typeface="DM Sans Bold"/>
              </a:rPr>
              <a:t>Key Results – Logistic Regression</a:t>
            </a:r>
          </a:p>
        </p:txBody>
      </p:sp>
    </p:spTree>
  </p:cSld>
  <p:clrMapOvr>
    <a:masterClrMapping/>
  </p:clrMapOvr>
  <p:transition spd="slow">
    <p:cover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553265" y="1462934"/>
            <a:ext cx="16767753" cy="5983181"/>
            <a:chOff x="0" y="0"/>
            <a:chExt cx="3294104" cy="1175424"/>
          </a:xfrm>
        </p:grpSpPr>
        <p:sp>
          <p:nvSpPr>
            <p:cNvPr id="12" name="Freeform 12"/>
            <p:cNvSpPr/>
            <p:nvPr/>
          </p:nvSpPr>
          <p:spPr>
            <a:xfrm>
              <a:off x="0" y="0"/>
              <a:ext cx="3294104" cy="1175424"/>
            </a:xfrm>
            <a:custGeom>
              <a:avLst/>
              <a:gdLst/>
              <a:ahLst/>
              <a:cxnLst/>
              <a:rect l="l" t="t" r="r" b="b"/>
              <a:pathLst>
                <a:path w="3294104" h="1175424">
                  <a:moveTo>
                    <a:pt x="13390" y="0"/>
                  </a:moveTo>
                  <a:lnTo>
                    <a:pt x="3280714" y="0"/>
                  </a:lnTo>
                  <a:cubicBezTo>
                    <a:pt x="3284266" y="0"/>
                    <a:pt x="3287671" y="1411"/>
                    <a:pt x="3290183" y="3922"/>
                  </a:cubicBezTo>
                  <a:cubicBezTo>
                    <a:pt x="3292694" y="6433"/>
                    <a:pt x="3294104" y="9839"/>
                    <a:pt x="3294104" y="13390"/>
                  </a:cubicBezTo>
                  <a:lnTo>
                    <a:pt x="3294104" y="1162034"/>
                  </a:lnTo>
                  <a:cubicBezTo>
                    <a:pt x="3294104" y="1165586"/>
                    <a:pt x="3292694" y="1168991"/>
                    <a:pt x="3290183" y="1171502"/>
                  </a:cubicBezTo>
                  <a:cubicBezTo>
                    <a:pt x="3287671" y="1174013"/>
                    <a:pt x="3284266" y="1175424"/>
                    <a:pt x="3280714" y="1175424"/>
                  </a:cubicBezTo>
                  <a:lnTo>
                    <a:pt x="13390" y="1175424"/>
                  </a:lnTo>
                  <a:cubicBezTo>
                    <a:pt x="5995" y="1175424"/>
                    <a:pt x="0" y="1169429"/>
                    <a:pt x="0" y="1162034"/>
                  </a:cubicBezTo>
                  <a:lnTo>
                    <a:pt x="0" y="13390"/>
                  </a:lnTo>
                  <a:cubicBezTo>
                    <a:pt x="0" y="5995"/>
                    <a:pt x="5995" y="0"/>
                    <a:pt x="13390" y="0"/>
                  </a:cubicBezTo>
                  <a:close/>
                </a:path>
              </a:pathLst>
            </a:custGeom>
            <a:solidFill>
              <a:srgbClr val="64B349"/>
            </a:solidFill>
          </p:spPr>
        </p:sp>
        <p:sp>
          <p:nvSpPr>
            <p:cNvPr id="13" name="TextBox 13"/>
            <p:cNvSpPr txBox="1"/>
            <p:nvPr/>
          </p:nvSpPr>
          <p:spPr>
            <a:xfrm>
              <a:off x="0" y="-95250"/>
              <a:ext cx="3294104" cy="1270674"/>
            </a:xfrm>
            <a:prstGeom prst="rect">
              <a:avLst/>
            </a:prstGeom>
          </p:spPr>
          <p:txBody>
            <a:bodyPr lIns="50800" tIns="50800" rIns="50800" bIns="50800" rtlCol="0" anchor="ctr"/>
            <a:lstStyle/>
            <a:p>
              <a:pPr algn="ctr">
                <a:lnSpc>
                  <a:spcPts val="3401"/>
                </a:lnSpc>
              </a:pPr>
              <a:endParaRPr/>
            </a:p>
          </p:txBody>
        </p:sp>
      </p:grpSp>
      <p:sp>
        <p:nvSpPr>
          <p:cNvPr id="14" name="TextBox 14"/>
          <p:cNvSpPr txBox="1"/>
          <p:nvPr/>
        </p:nvSpPr>
        <p:spPr>
          <a:xfrm>
            <a:off x="550020" y="301752"/>
            <a:ext cx="6745599" cy="726948"/>
          </a:xfrm>
          <a:prstGeom prst="rect">
            <a:avLst/>
          </a:prstGeom>
        </p:spPr>
        <p:txBody>
          <a:bodyPr lIns="0" tIns="0" rIns="0" bIns="0" rtlCol="0" anchor="t">
            <a:spAutoFit/>
          </a:bodyPr>
          <a:lstStyle/>
          <a:p>
            <a:pPr algn="l">
              <a:lnSpc>
                <a:spcPts val="5615"/>
              </a:lnSpc>
            </a:pPr>
            <a:r>
              <a:rPr lang="en-US" sz="5199" b="1">
                <a:solidFill>
                  <a:srgbClr val="000000"/>
                </a:solidFill>
                <a:latin typeface="DM Sans Bold"/>
                <a:ea typeface="DM Sans Bold"/>
                <a:cs typeface="DM Sans Bold"/>
                <a:sym typeface="DM Sans Bold"/>
              </a:rPr>
              <a:t>Correlation Analysis</a:t>
            </a:r>
          </a:p>
        </p:txBody>
      </p:sp>
      <p:grpSp>
        <p:nvGrpSpPr>
          <p:cNvPr id="15" name="Group 15"/>
          <p:cNvGrpSpPr/>
          <p:nvPr/>
        </p:nvGrpSpPr>
        <p:grpSpPr>
          <a:xfrm>
            <a:off x="13783695" y="735668"/>
            <a:ext cx="3537322" cy="727266"/>
            <a:chOff x="0" y="0"/>
            <a:chExt cx="4716430" cy="969687"/>
          </a:xfrm>
        </p:grpSpPr>
        <p:grpSp>
          <p:nvGrpSpPr>
            <p:cNvPr id="16" name="Group 16"/>
            <p:cNvGrpSpPr/>
            <p:nvPr/>
          </p:nvGrpSpPr>
          <p:grpSpPr>
            <a:xfrm rot="-10800000">
              <a:off x="0" y="0"/>
              <a:ext cx="4716430" cy="969687"/>
              <a:chOff x="0" y="0"/>
              <a:chExt cx="1710217" cy="351664"/>
            </a:xfrm>
          </p:grpSpPr>
          <p:sp>
            <p:nvSpPr>
              <p:cNvPr id="17" name="Freeform 17"/>
              <p:cNvSpPr/>
              <p:nvPr/>
            </p:nvSpPr>
            <p:spPr>
              <a:xfrm>
                <a:off x="0" y="0"/>
                <a:ext cx="1710217" cy="351664"/>
              </a:xfrm>
              <a:custGeom>
                <a:avLst/>
                <a:gdLst/>
                <a:ahLst/>
                <a:cxnLst/>
                <a:rect l="l" t="t" r="r" b="b"/>
                <a:pathLst>
                  <a:path w="1710217" h="351664">
                    <a:moveTo>
                      <a:pt x="1710217" y="18186"/>
                    </a:moveTo>
                    <a:lnTo>
                      <a:pt x="1710217" y="333477"/>
                    </a:lnTo>
                    <a:cubicBezTo>
                      <a:pt x="1710217" y="343521"/>
                      <a:pt x="1702074" y="351664"/>
                      <a:pt x="1692030" y="351664"/>
                    </a:cubicBezTo>
                    <a:lnTo>
                      <a:pt x="18186" y="351664"/>
                    </a:lnTo>
                    <a:cubicBezTo>
                      <a:pt x="8142" y="351664"/>
                      <a:pt x="0" y="343521"/>
                      <a:pt x="0" y="333477"/>
                    </a:cubicBezTo>
                    <a:lnTo>
                      <a:pt x="0" y="18186"/>
                    </a:lnTo>
                    <a:cubicBezTo>
                      <a:pt x="0" y="8142"/>
                      <a:pt x="8142" y="0"/>
                      <a:pt x="18186" y="0"/>
                    </a:cubicBezTo>
                    <a:lnTo>
                      <a:pt x="1692030" y="0"/>
                    </a:lnTo>
                    <a:cubicBezTo>
                      <a:pt x="1696854" y="0"/>
                      <a:pt x="1701479" y="1916"/>
                      <a:pt x="1704890" y="5327"/>
                    </a:cubicBezTo>
                    <a:cubicBezTo>
                      <a:pt x="1708301" y="8737"/>
                      <a:pt x="1710217" y="13363"/>
                      <a:pt x="1710217" y="18186"/>
                    </a:cubicBezTo>
                    <a:close/>
                  </a:path>
                </a:pathLst>
              </a:custGeom>
              <a:solidFill>
                <a:srgbClr val="FFFFFF"/>
              </a:solidFill>
              <a:ln w="19050" cap="sq">
                <a:solidFill>
                  <a:srgbClr val="64B349"/>
                </a:solidFill>
                <a:prstDash val="solid"/>
                <a:miter/>
              </a:ln>
            </p:spPr>
          </p:sp>
          <p:sp>
            <p:nvSpPr>
              <p:cNvPr id="18" name="TextBox 18"/>
              <p:cNvSpPr txBox="1"/>
              <p:nvPr/>
            </p:nvSpPr>
            <p:spPr>
              <a:xfrm>
                <a:off x="0" y="-57150"/>
                <a:ext cx="1710217" cy="408814"/>
              </a:xfrm>
              <a:prstGeom prst="rect">
                <a:avLst/>
              </a:prstGeom>
            </p:spPr>
            <p:txBody>
              <a:bodyPr lIns="50800" tIns="50800" rIns="50800" bIns="50800" rtlCol="0" anchor="ctr"/>
              <a:lstStyle/>
              <a:p>
                <a:pPr algn="ctr">
                  <a:lnSpc>
                    <a:spcPts val="1944"/>
                  </a:lnSpc>
                </a:pPr>
                <a:endParaRPr/>
              </a:p>
            </p:txBody>
          </p:sp>
        </p:grpSp>
        <p:sp>
          <p:nvSpPr>
            <p:cNvPr id="19" name="TextBox 19"/>
            <p:cNvSpPr txBox="1"/>
            <p:nvPr/>
          </p:nvSpPr>
          <p:spPr>
            <a:xfrm>
              <a:off x="202866" y="255081"/>
              <a:ext cx="4513564" cy="488100"/>
            </a:xfrm>
            <a:prstGeom prst="rect">
              <a:avLst/>
            </a:prstGeom>
          </p:spPr>
          <p:txBody>
            <a:bodyPr lIns="0" tIns="0" rIns="0" bIns="0" rtlCol="0" anchor="t">
              <a:spAutoFit/>
            </a:bodyPr>
            <a:lstStyle/>
            <a:p>
              <a:pPr algn="l">
                <a:lnSpc>
                  <a:spcPts val="2782"/>
                </a:lnSpc>
              </a:pPr>
              <a:r>
                <a:rPr lang="en-US" sz="2575" b="1">
                  <a:solidFill>
                    <a:srgbClr val="000000"/>
                  </a:solidFill>
                  <a:latin typeface="DM Sans Bold"/>
                  <a:ea typeface="DM Sans Bold"/>
                  <a:cs typeface="DM Sans Bold"/>
                  <a:sym typeface="DM Sans Bold"/>
                </a:rPr>
                <a:t>COMPUTER SCIENCE</a:t>
              </a:r>
            </a:p>
          </p:txBody>
        </p:sp>
      </p:grpSp>
      <p:sp>
        <p:nvSpPr>
          <p:cNvPr id="20" name="TextBox 20"/>
          <p:cNvSpPr txBox="1"/>
          <p:nvPr/>
        </p:nvSpPr>
        <p:spPr>
          <a:xfrm>
            <a:off x="807873" y="2019928"/>
            <a:ext cx="15088307" cy="1754758"/>
          </a:xfrm>
          <a:prstGeom prst="rect">
            <a:avLst/>
          </a:prstGeom>
        </p:spPr>
        <p:txBody>
          <a:bodyPr lIns="0" tIns="0" rIns="0" bIns="0" rtlCol="0" anchor="t">
            <a:spAutoFit/>
          </a:bodyPr>
          <a:lstStyle/>
          <a:p>
            <a:pPr algn="just">
              <a:lnSpc>
                <a:spcPts val="7067"/>
              </a:lnSpc>
            </a:pPr>
            <a:r>
              <a:rPr lang="en-US" sz="5048" b="1">
                <a:solidFill>
                  <a:srgbClr val="FFFFFF"/>
                </a:solidFill>
                <a:latin typeface="DM Sans Bold"/>
                <a:ea typeface="DM Sans Bold"/>
                <a:cs typeface="DM Sans Bold"/>
                <a:sym typeface="DM Sans Bold"/>
              </a:rPr>
              <a:t>Pearson:  0.013 → No linear relationship</a:t>
            </a:r>
          </a:p>
          <a:p>
            <a:pPr algn="just">
              <a:lnSpc>
                <a:spcPts val="7067"/>
              </a:lnSpc>
            </a:pPr>
            <a:r>
              <a:rPr lang="en-US" sz="5048" b="1">
                <a:solidFill>
                  <a:srgbClr val="FFFFFF"/>
                </a:solidFill>
                <a:latin typeface="DM Sans Bold"/>
                <a:ea typeface="DM Sans Bold"/>
                <a:cs typeface="DM Sans Bold"/>
                <a:sym typeface="DM Sans Bold"/>
              </a:rPr>
              <a:t>Spearman: –0.0395 → No rank relationship</a:t>
            </a:r>
          </a:p>
        </p:txBody>
      </p:sp>
      <p:sp>
        <p:nvSpPr>
          <p:cNvPr id="21" name="TextBox 21"/>
          <p:cNvSpPr txBox="1"/>
          <p:nvPr/>
        </p:nvSpPr>
        <p:spPr>
          <a:xfrm>
            <a:off x="807873" y="3991111"/>
            <a:ext cx="16513144" cy="3455003"/>
          </a:xfrm>
          <a:prstGeom prst="rect">
            <a:avLst/>
          </a:prstGeom>
        </p:spPr>
        <p:txBody>
          <a:bodyPr lIns="0" tIns="0" rIns="0" bIns="0" rtlCol="0" anchor="t">
            <a:spAutoFit/>
          </a:bodyPr>
          <a:lstStyle/>
          <a:p>
            <a:pPr algn="just">
              <a:lnSpc>
                <a:spcPts val="6888"/>
              </a:lnSpc>
            </a:pPr>
            <a:r>
              <a:rPr lang="en-US" sz="4920" b="1">
                <a:solidFill>
                  <a:srgbClr val="64B349"/>
                </a:solidFill>
                <a:latin typeface="DM Sans Bold"/>
                <a:ea typeface="DM Sans Bold"/>
                <a:cs typeface="DM Sans Bold"/>
                <a:sym typeface="DM Sans Bold"/>
              </a:rPr>
              <a:t>UTME scores do not predict PUTME performance.</a:t>
            </a:r>
          </a:p>
          <a:p>
            <a:pPr algn="just">
              <a:lnSpc>
                <a:spcPts val="6888"/>
              </a:lnSpc>
            </a:pPr>
            <a:r>
              <a:rPr lang="en-US" sz="4920" b="1">
                <a:solidFill>
                  <a:srgbClr val="64B349"/>
                </a:solidFill>
                <a:latin typeface="DM Sans Bold"/>
                <a:ea typeface="DM Sans Bold"/>
                <a:cs typeface="DM Sans Bold"/>
                <a:sym typeface="DM Sans Bold"/>
              </a:rPr>
              <a:t>The two exams behave like independent exams. </a:t>
            </a:r>
          </a:p>
          <a:p>
            <a:pPr algn="just">
              <a:lnSpc>
                <a:spcPts val="6888"/>
              </a:lnSpc>
            </a:pPr>
            <a:r>
              <a:rPr lang="en-US" sz="4920" b="1">
                <a:solidFill>
                  <a:srgbClr val="64B349"/>
                </a:solidFill>
                <a:latin typeface="DM Sans Bold"/>
                <a:ea typeface="DM Sans Bold"/>
                <a:cs typeface="DM Sans Bold"/>
                <a:sym typeface="DM Sans Bold"/>
              </a:rPr>
              <a:t>High UTME ≠ High POST‑UTME</a:t>
            </a:r>
          </a:p>
          <a:p>
            <a:pPr algn="just">
              <a:lnSpc>
                <a:spcPts val="6888"/>
              </a:lnSpc>
            </a:pPr>
            <a:r>
              <a:rPr lang="en-US" sz="4920" b="1">
                <a:solidFill>
                  <a:srgbClr val="64B349"/>
                </a:solidFill>
                <a:latin typeface="DM Sans Bold"/>
                <a:ea typeface="DM Sans Bold"/>
                <a:cs typeface="DM Sans Bold"/>
                <a:sym typeface="DM Sans Bold"/>
              </a:rPr>
              <a:t>Low UTME ≠ Low POST‑UTME</a:t>
            </a:r>
          </a:p>
        </p:txBody>
      </p:sp>
      <p:grpSp>
        <p:nvGrpSpPr>
          <p:cNvPr id="22" name="Group 22"/>
          <p:cNvGrpSpPr/>
          <p:nvPr/>
        </p:nvGrpSpPr>
        <p:grpSpPr>
          <a:xfrm>
            <a:off x="478778" y="4163218"/>
            <a:ext cx="17036177" cy="3476834"/>
            <a:chOff x="0" y="0"/>
            <a:chExt cx="3346837" cy="683040"/>
          </a:xfrm>
        </p:grpSpPr>
        <p:sp>
          <p:nvSpPr>
            <p:cNvPr id="23" name="Freeform 23"/>
            <p:cNvSpPr/>
            <p:nvPr/>
          </p:nvSpPr>
          <p:spPr>
            <a:xfrm>
              <a:off x="0" y="0"/>
              <a:ext cx="3346838" cy="683040"/>
            </a:xfrm>
            <a:custGeom>
              <a:avLst/>
              <a:gdLst/>
              <a:ahLst/>
              <a:cxnLst/>
              <a:rect l="l" t="t" r="r" b="b"/>
              <a:pathLst>
                <a:path w="3346838" h="683040">
                  <a:moveTo>
                    <a:pt x="13179" y="0"/>
                  </a:moveTo>
                  <a:lnTo>
                    <a:pt x="3333659" y="0"/>
                  </a:lnTo>
                  <a:cubicBezTo>
                    <a:pt x="3340937" y="0"/>
                    <a:pt x="3346838" y="5900"/>
                    <a:pt x="3346838" y="13179"/>
                  </a:cubicBezTo>
                  <a:lnTo>
                    <a:pt x="3346838" y="669862"/>
                  </a:lnTo>
                  <a:cubicBezTo>
                    <a:pt x="3346838" y="677140"/>
                    <a:pt x="3340937" y="683040"/>
                    <a:pt x="3333659" y="683040"/>
                  </a:cubicBezTo>
                  <a:lnTo>
                    <a:pt x="13179" y="683040"/>
                  </a:lnTo>
                  <a:cubicBezTo>
                    <a:pt x="5900" y="683040"/>
                    <a:pt x="0" y="677140"/>
                    <a:pt x="0" y="669862"/>
                  </a:cubicBezTo>
                  <a:lnTo>
                    <a:pt x="0" y="13179"/>
                  </a:lnTo>
                  <a:cubicBezTo>
                    <a:pt x="0" y="5900"/>
                    <a:pt x="5900" y="0"/>
                    <a:pt x="13179" y="0"/>
                  </a:cubicBezTo>
                  <a:close/>
                </a:path>
              </a:pathLst>
            </a:custGeom>
            <a:solidFill>
              <a:srgbClr val="FFFFFF"/>
            </a:solidFill>
          </p:spPr>
        </p:sp>
        <p:sp>
          <p:nvSpPr>
            <p:cNvPr id="24" name="TextBox 24"/>
            <p:cNvSpPr txBox="1"/>
            <p:nvPr/>
          </p:nvSpPr>
          <p:spPr>
            <a:xfrm>
              <a:off x="0" y="-95250"/>
              <a:ext cx="3346837" cy="778290"/>
            </a:xfrm>
            <a:prstGeom prst="rect">
              <a:avLst/>
            </a:prstGeom>
          </p:spPr>
          <p:txBody>
            <a:bodyPr lIns="50800" tIns="50800" rIns="50800" bIns="50800" rtlCol="0" anchor="ctr"/>
            <a:lstStyle/>
            <a:p>
              <a:pPr algn="ctr">
                <a:lnSpc>
                  <a:spcPts val="3401"/>
                </a:lnSpc>
              </a:pPr>
              <a:endParaRPr/>
            </a:p>
          </p:txBody>
        </p:sp>
      </p:grpSp>
      <p:sp>
        <p:nvSpPr>
          <p:cNvPr id="25" name="TextBox 25"/>
          <p:cNvSpPr txBox="1"/>
          <p:nvPr/>
        </p:nvSpPr>
        <p:spPr>
          <a:xfrm>
            <a:off x="747202" y="4185049"/>
            <a:ext cx="15880090" cy="3455003"/>
          </a:xfrm>
          <a:prstGeom prst="rect">
            <a:avLst/>
          </a:prstGeom>
        </p:spPr>
        <p:txBody>
          <a:bodyPr lIns="0" tIns="0" rIns="0" bIns="0" rtlCol="0" anchor="t">
            <a:spAutoFit/>
          </a:bodyPr>
          <a:lstStyle/>
          <a:p>
            <a:pPr algn="just">
              <a:lnSpc>
                <a:spcPts val="6888"/>
              </a:lnSpc>
            </a:pPr>
            <a:r>
              <a:rPr lang="en-US" sz="4920" b="1">
                <a:solidFill>
                  <a:srgbClr val="64B349"/>
                </a:solidFill>
                <a:latin typeface="DM Sans Bold"/>
                <a:ea typeface="DM Sans Bold"/>
                <a:cs typeface="DM Sans Bold"/>
                <a:sym typeface="DM Sans Bold"/>
              </a:rPr>
              <a:t>UTME scores do not predict PUTME performance.</a:t>
            </a:r>
          </a:p>
          <a:p>
            <a:pPr algn="just">
              <a:lnSpc>
                <a:spcPts val="6888"/>
              </a:lnSpc>
            </a:pPr>
            <a:r>
              <a:rPr lang="en-US" sz="4920" b="1">
                <a:solidFill>
                  <a:srgbClr val="64B349"/>
                </a:solidFill>
                <a:latin typeface="DM Sans Bold"/>
                <a:ea typeface="DM Sans Bold"/>
                <a:cs typeface="DM Sans Bold"/>
                <a:sym typeface="DM Sans Bold"/>
              </a:rPr>
              <a:t>The two exams behave like independent exams. </a:t>
            </a:r>
          </a:p>
          <a:p>
            <a:pPr algn="just">
              <a:lnSpc>
                <a:spcPts val="6888"/>
              </a:lnSpc>
            </a:pPr>
            <a:r>
              <a:rPr lang="en-US" sz="4920" b="1">
                <a:solidFill>
                  <a:srgbClr val="64B349"/>
                </a:solidFill>
                <a:latin typeface="DM Sans Bold"/>
                <a:ea typeface="DM Sans Bold"/>
                <a:cs typeface="DM Sans Bold"/>
                <a:sym typeface="DM Sans Bold"/>
              </a:rPr>
              <a:t>High UTME ≠ High POST‑UTME</a:t>
            </a:r>
          </a:p>
          <a:p>
            <a:pPr algn="just">
              <a:lnSpc>
                <a:spcPts val="6888"/>
              </a:lnSpc>
            </a:pPr>
            <a:r>
              <a:rPr lang="en-US" sz="4920" b="1">
                <a:solidFill>
                  <a:srgbClr val="64B349"/>
                </a:solidFill>
                <a:latin typeface="DM Sans Bold"/>
                <a:ea typeface="DM Sans Bold"/>
                <a:cs typeface="DM Sans Bold"/>
                <a:sym typeface="DM Sans Bold"/>
              </a:rPr>
              <a:t>Low UTME ≠ Low POST‑UTME</a:t>
            </a:r>
          </a:p>
        </p:txBody>
      </p:sp>
    </p:spTree>
  </p:cSld>
  <p:clrMapOvr>
    <a:masterClrMapping/>
  </p:clrMapOvr>
  <p:transition spd="slow">
    <p:cover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3265" y="1462934"/>
            <a:ext cx="16767753" cy="5983181"/>
            <a:chOff x="0" y="0"/>
            <a:chExt cx="3294104" cy="1175424"/>
          </a:xfrm>
        </p:grpSpPr>
        <p:sp>
          <p:nvSpPr>
            <p:cNvPr id="3" name="Freeform 3"/>
            <p:cNvSpPr/>
            <p:nvPr/>
          </p:nvSpPr>
          <p:spPr>
            <a:xfrm>
              <a:off x="0" y="0"/>
              <a:ext cx="3294104" cy="1175424"/>
            </a:xfrm>
            <a:custGeom>
              <a:avLst/>
              <a:gdLst/>
              <a:ahLst/>
              <a:cxnLst/>
              <a:rect l="l" t="t" r="r" b="b"/>
              <a:pathLst>
                <a:path w="3294104" h="1175424">
                  <a:moveTo>
                    <a:pt x="13390" y="0"/>
                  </a:moveTo>
                  <a:lnTo>
                    <a:pt x="3280714" y="0"/>
                  </a:lnTo>
                  <a:cubicBezTo>
                    <a:pt x="3284266" y="0"/>
                    <a:pt x="3287671" y="1411"/>
                    <a:pt x="3290183" y="3922"/>
                  </a:cubicBezTo>
                  <a:cubicBezTo>
                    <a:pt x="3292694" y="6433"/>
                    <a:pt x="3294104" y="9839"/>
                    <a:pt x="3294104" y="13390"/>
                  </a:cubicBezTo>
                  <a:lnTo>
                    <a:pt x="3294104" y="1162034"/>
                  </a:lnTo>
                  <a:cubicBezTo>
                    <a:pt x="3294104" y="1165586"/>
                    <a:pt x="3292694" y="1168991"/>
                    <a:pt x="3290183" y="1171502"/>
                  </a:cubicBezTo>
                  <a:cubicBezTo>
                    <a:pt x="3287671" y="1174013"/>
                    <a:pt x="3284266" y="1175424"/>
                    <a:pt x="3280714" y="1175424"/>
                  </a:cubicBezTo>
                  <a:lnTo>
                    <a:pt x="13390" y="1175424"/>
                  </a:lnTo>
                  <a:cubicBezTo>
                    <a:pt x="5995" y="1175424"/>
                    <a:pt x="0" y="1169429"/>
                    <a:pt x="0" y="1162034"/>
                  </a:cubicBezTo>
                  <a:lnTo>
                    <a:pt x="0" y="13390"/>
                  </a:lnTo>
                  <a:cubicBezTo>
                    <a:pt x="0" y="5995"/>
                    <a:pt x="5995" y="0"/>
                    <a:pt x="13390" y="0"/>
                  </a:cubicBezTo>
                  <a:close/>
                </a:path>
              </a:pathLst>
            </a:custGeom>
            <a:solidFill>
              <a:srgbClr val="64B349"/>
            </a:solidFill>
          </p:spPr>
        </p:sp>
        <p:sp>
          <p:nvSpPr>
            <p:cNvPr id="4" name="TextBox 4"/>
            <p:cNvSpPr txBox="1"/>
            <p:nvPr/>
          </p:nvSpPr>
          <p:spPr>
            <a:xfrm>
              <a:off x="0" y="-95250"/>
              <a:ext cx="3294104" cy="1270674"/>
            </a:xfrm>
            <a:prstGeom prst="rect">
              <a:avLst/>
            </a:prstGeom>
          </p:spPr>
          <p:txBody>
            <a:bodyPr lIns="50800" tIns="50800" rIns="50800" bIns="50800" rtlCol="0" anchor="ctr"/>
            <a:lstStyle/>
            <a:p>
              <a:pPr algn="ctr">
                <a:lnSpc>
                  <a:spcPts val="3401"/>
                </a:lnSpc>
              </a:pPr>
              <a:endParaRPr/>
            </a:p>
          </p:txBody>
        </p:sp>
      </p:grpSp>
      <p:sp>
        <p:nvSpPr>
          <p:cNvPr id="5" name="TextBox 5"/>
          <p:cNvSpPr txBox="1"/>
          <p:nvPr/>
        </p:nvSpPr>
        <p:spPr>
          <a:xfrm>
            <a:off x="550020" y="301752"/>
            <a:ext cx="6745599" cy="726948"/>
          </a:xfrm>
          <a:prstGeom prst="rect">
            <a:avLst/>
          </a:prstGeom>
        </p:spPr>
        <p:txBody>
          <a:bodyPr lIns="0" tIns="0" rIns="0" bIns="0" rtlCol="0" anchor="t">
            <a:spAutoFit/>
          </a:bodyPr>
          <a:lstStyle/>
          <a:p>
            <a:pPr algn="l">
              <a:lnSpc>
                <a:spcPts val="5615"/>
              </a:lnSpc>
            </a:pPr>
            <a:r>
              <a:rPr lang="en-US" sz="5199" b="1">
                <a:solidFill>
                  <a:srgbClr val="000000"/>
                </a:solidFill>
                <a:latin typeface="DM Sans Bold"/>
                <a:ea typeface="DM Sans Bold"/>
                <a:cs typeface="DM Sans Bold"/>
                <a:sym typeface="DM Sans Bold"/>
              </a:rPr>
              <a:t>Correlation Analysis</a:t>
            </a:r>
          </a:p>
        </p:txBody>
      </p:sp>
      <p:sp>
        <p:nvSpPr>
          <p:cNvPr id="6" name="TextBox 6"/>
          <p:cNvSpPr txBox="1"/>
          <p:nvPr/>
        </p:nvSpPr>
        <p:spPr>
          <a:xfrm>
            <a:off x="807873" y="2019928"/>
            <a:ext cx="15088307" cy="1754758"/>
          </a:xfrm>
          <a:prstGeom prst="rect">
            <a:avLst/>
          </a:prstGeom>
        </p:spPr>
        <p:txBody>
          <a:bodyPr lIns="0" tIns="0" rIns="0" bIns="0" rtlCol="0" anchor="t">
            <a:spAutoFit/>
          </a:bodyPr>
          <a:lstStyle/>
          <a:p>
            <a:pPr algn="just">
              <a:lnSpc>
                <a:spcPts val="7067"/>
              </a:lnSpc>
            </a:pPr>
            <a:r>
              <a:rPr lang="en-US" sz="5048" b="1">
                <a:solidFill>
                  <a:srgbClr val="FFFFFF"/>
                </a:solidFill>
                <a:latin typeface="DM Sans Bold"/>
                <a:ea typeface="DM Sans Bold"/>
                <a:cs typeface="DM Sans Bold"/>
                <a:sym typeface="DM Sans Bold"/>
              </a:rPr>
              <a:t>Pearson: 0.1302 → little linear relationship</a:t>
            </a:r>
          </a:p>
          <a:p>
            <a:pPr algn="just">
              <a:lnSpc>
                <a:spcPts val="7067"/>
              </a:lnSpc>
            </a:pPr>
            <a:r>
              <a:rPr lang="en-US" sz="5048" b="1">
                <a:solidFill>
                  <a:srgbClr val="FFFFFF"/>
                </a:solidFill>
                <a:latin typeface="DM Sans Bold"/>
                <a:ea typeface="DM Sans Bold"/>
                <a:cs typeface="DM Sans Bold"/>
                <a:sym typeface="DM Sans Bold"/>
              </a:rPr>
              <a:t>Spearman: 0.1181 → little linear relationship</a:t>
            </a:r>
          </a:p>
        </p:txBody>
      </p:sp>
      <p:sp>
        <p:nvSpPr>
          <p:cNvPr id="7" name="TextBox 7"/>
          <p:cNvSpPr txBox="1"/>
          <p:nvPr/>
        </p:nvSpPr>
        <p:spPr>
          <a:xfrm>
            <a:off x="807873" y="3991111"/>
            <a:ext cx="16513144" cy="3455003"/>
          </a:xfrm>
          <a:prstGeom prst="rect">
            <a:avLst/>
          </a:prstGeom>
        </p:spPr>
        <p:txBody>
          <a:bodyPr lIns="0" tIns="0" rIns="0" bIns="0" rtlCol="0" anchor="t">
            <a:spAutoFit/>
          </a:bodyPr>
          <a:lstStyle/>
          <a:p>
            <a:pPr algn="just">
              <a:lnSpc>
                <a:spcPts val="6888"/>
              </a:lnSpc>
            </a:pPr>
            <a:r>
              <a:rPr lang="en-US" sz="4920" b="1">
                <a:solidFill>
                  <a:srgbClr val="64B349"/>
                </a:solidFill>
                <a:latin typeface="DM Sans Bold"/>
                <a:ea typeface="DM Sans Bold"/>
                <a:cs typeface="DM Sans Bold"/>
                <a:sym typeface="DM Sans Bold"/>
              </a:rPr>
              <a:t>UTME scores do not predict PUTME performance.</a:t>
            </a:r>
          </a:p>
          <a:p>
            <a:pPr algn="just">
              <a:lnSpc>
                <a:spcPts val="6888"/>
              </a:lnSpc>
            </a:pPr>
            <a:r>
              <a:rPr lang="en-US" sz="4920" b="1">
                <a:solidFill>
                  <a:srgbClr val="64B349"/>
                </a:solidFill>
                <a:latin typeface="DM Sans Bold"/>
                <a:ea typeface="DM Sans Bold"/>
                <a:cs typeface="DM Sans Bold"/>
                <a:sym typeface="DM Sans Bold"/>
              </a:rPr>
              <a:t>The two exams behave like independent exams. </a:t>
            </a:r>
          </a:p>
          <a:p>
            <a:pPr algn="just">
              <a:lnSpc>
                <a:spcPts val="6888"/>
              </a:lnSpc>
            </a:pPr>
            <a:r>
              <a:rPr lang="en-US" sz="4920" b="1">
                <a:solidFill>
                  <a:srgbClr val="64B349"/>
                </a:solidFill>
                <a:latin typeface="DM Sans Bold"/>
                <a:ea typeface="DM Sans Bold"/>
                <a:cs typeface="DM Sans Bold"/>
                <a:sym typeface="DM Sans Bold"/>
              </a:rPr>
              <a:t>High UTME ≠ High POST‑UTME</a:t>
            </a:r>
          </a:p>
          <a:p>
            <a:pPr algn="just">
              <a:lnSpc>
                <a:spcPts val="6888"/>
              </a:lnSpc>
            </a:pPr>
            <a:r>
              <a:rPr lang="en-US" sz="4920" b="1">
                <a:solidFill>
                  <a:srgbClr val="64B349"/>
                </a:solidFill>
                <a:latin typeface="DM Sans Bold"/>
                <a:ea typeface="DM Sans Bold"/>
                <a:cs typeface="DM Sans Bold"/>
                <a:sym typeface="DM Sans Bold"/>
              </a:rPr>
              <a:t>Low UTME ≠ Low POST‑UTME</a:t>
            </a:r>
          </a:p>
        </p:txBody>
      </p:sp>
      <p:grpSp>
        <p:nvGrpSpPr>
          <p:cNvPr id="8" name="Group 8"/>
          <p:cNvGrpSpPr/>
          <p:nvPr/>
        </p:nvGrpSpPr>
        <p:grpSpPr>
          <a:xfrm>
            <a:off x="478778" y="4163218"/>
            <a:ext cx="17036177" cy="3476834"/>
            <a:chOff x="0" y="0"/>
            <a:chExt cx="3346837" cy="683040"/>
          </a:xfrm>
        </p:grpSpPr>
        <p:sp>
          <p:nvSpPr>
            <p:cNvPr id="9" name="Freeform 9"/>
            <p:cNvSpPr/>
            <p:nvPr/>
          </p:nvSpPr>
          <p:spPr>
            <a:xfrm>
              <a:off x="0" y="0"/>
              <a:ext cx="3346838" cy="683040"/>
            </a:xfrm>
            <a:custGeom>
              <a:avLst/>
              <a:gdLst/>
              <a:ahLst/>
              <a:cxnLst/>
              <a:rect l="l" t="t" r="r" b="b"/>
              <a:pathLst>
                <a:path w="3346838" h="683040">
                  <a:moveTo>
                    <a:pt x="13179" y="0"/>
                  </a:moveTo>
                  <a:lnTo>
                    <a:pt x="3333659" y="0"/>
                  </a:lnTo>
                  <a:cubicBezTo>
                    <a:pt x="3340937" y="0"/>
                    <a:pt x="3346838" y="5900"/>
                    <a:pt x="3346838" y="13179"/>
                  </a:cubicBezTo>
                  <a:lnTo>
                    <a:pt x="3346838" y="669862"/>
                  </a:lnTo>
                  <a:cubicBezTo>
                    <a:pt x="3346838" y="677140"/>
                    <a:pt x="3340937" y="683040"/>
                    <a:pt x="3333659" y="683040"/>
                  </a:cubicBezTo>
                  <a:lnTo>
                    <a:pt x="13179" y="683040"/>
                  </a:lnTo>
                  <a:cubicBezTo>
                    <a:pt x="5900" y="683040"/>
                    <a:pt x="0" y="677140"/>
                    <a:pt x="0" y="669862"/>
                  </a:cubicBezTo>
                  <a:lnTo>
                    <a:pt x="0" y="13179"/>
                  </a:lnTo>
                  <a:cubicBezTo>
                    <a:pt x="0" y="5900"/>
                    <a:pt x="5900" y="0"/>
                    <a:pt x="13179" y="0"/>
                  </a:cubicBezTo>
                  <a:close/>
                </a:path>
              </a:pathLst>
            </a:custGeom>
            <a:solidFill>
              <a:srgbClr val="FFFFFF"/>
            </a:solidFill>
          </p:spPr>
        </p:sp>
        <p:sp>
          <p:nvSpPr>
            <p:cNvPr id="10" name="TextBox 10"/>
            <p:cNvSpPr txBox="1"/>
            <p:nvPr/>
          </p:nvSpPr>
          <p:spPr>
            <a:xfrm>
              <a:off x="0" y="-95250"/>
              <a:ext cx="3346837" cy="778290"/>
            </a:xfrm>
            <a:prstGeom prst="rect">
              <a:avLst/>
            </a:prstGeom>
          </p:spPr>
          <p:txBody>
            <a:bodyPr lIns="50800" tIns="50800" rIns="50800" bIns="50800" rtlCol="0" anchor="ctr"/>
            <a:lstStyle/>
            <a:p>
              <a:pPr algn="ctr">
                <a:lnSpc>
                  <a:spcPts val="3401"/>
                </a:lnSpc>
              </a:pPr>
              <a:endParaRPr/>
            </a:p>
          </p:txBody>
        </p:sp>
      </p:grpSp>
      <p:sp>
        <p:nvSpPr>
          <p:cNvPr id="11" name="TextBox 11"/>
          <p:cNvSpPr txBox="1"/>
          <p:nvPr/>
        </p:nvSpPr>
        <p:spPr>
          <a:xfrm>
            <a:off x="747202" y="4185049"/>
            <a:ext cx="16512098" cy="5197368"/>
          </a:xfrm>
          <a:prstGeom prst="rect">
            <a:avLst/>
          </a:prstGeom>
        </p:spPr>
        <p:txBody>
          <a:bodyPr lIns="0" tIns="0" rIns="0" bIns="0" rtlCol="0" anchor="t">
            <a:spAutoFit/>
          </a:bodyPr>
          <a:lstStyle/>
          <a:p>
            <a:pPr algn="just">
              <a:lnSpc>
                <a:spcPts val="6888"/>
              </a:lnSpc>
            </a:pPr>
            <a:r>
              <a:rPr lang="en-US" sz="4920" b="1">
                <a:solidFill>
                  <a:srgbClr val="64B349"/>
                </a:solidFill>
                <a:latin typeface="DM Sans Bold"/>
                <a:ea typeface="DM Sans Bold"/>
                <a:cs typeface="DM Sans Bold"/>
                <a:sym typeface="DM Sans Bold"/>
              </a:rPr>
              <a:t>A very weak positive relationship</a:t>
            </a:r>
          </a:p>
          <a:p>
            <a:pPr algn="just">
              <a:lnSpc>
                <a:spcPts val="6888"/>
              </a:lnSpc>
            </a:pPr>
            <a:r>
              <a:rPr lang="en-US" sz="4920" b="1">
                <a:solidFill>
                  <a:srgbClr val="64B349"/>
                </a:solidFill>
                <a:latin typeface="DM Sans Bold"/>
                <a:ea typeface="DM Sans Bold"/>
                <a:cs typeface="DM Sans Bold"/>
                <a:sym typeface="DM Sans Bold"/>
              </a:rPr>
              <a:t>A correlation of 0.13 means:</a:t>
            </a:r>
          </a:p>
          <a:p>
            <a:pPr marL="1062305" lvl="1" indent="-531153" algn="just">
              <a:lnSpc>
                <a:spcPts val="6888"/>
              </a:lnSpc>
              <a:buFont typeface="Arial"/>
              <a:buChar char="•"/>
            </a:pPr>
            <a:r>
              <a:rPr lang="en-US" sz="4920" b="1">
                <a:solidFill>
                  <a:srgbClr val="64B349"/>
                </a:solidFill>
                <a:latin typeface="DM Sans Bold"/>
                <a:ea typeface="DM Sans Bold"/>
                <a:cs typeface="DM Sans Bold"/>
                <a:sym typeface="DM Sans Bold"/>
              </a:rPr>
              <a:t>Only about 1.4% of PUTME performance can be explained by UTME performance</a:t>
            </a:r>
          </a:p>
          <a:p>
            <a:pPr marL="1062305" lvl="1" indent="-531153" algn="just">
              <a:lnSpc>
                <a:spcPts val="6888"/>
              </a:lnSpc>
              <a:buFont typeface="Arial"/>
              <a:buChar char="•"/>
            </a:pPr>
            <a:r>
              <a:rPr lang="en-US" sz="4920" b="1">
                <a:solidFill>
                  <a:srgbClr val="64B349"/>
                </a:solidFill>
                <a:latin typeface="DM Sans Bold"/>
                <a:ea typeface="DM Sans Bold"/>
                <a:cs typeface="DM Sans Bold"/>
                <a:sym typeface="DM Sans Bold"/>
              </a:rPr>
              <a:t>98.6% is unexplained and random</a:t>
            </a:r>
          </a:p>
          <a:p>
            <a:pPr algn="just">
              <a:lnSpc>
                <a:spcPts val="6888"/>
              </a:lnSpc>
            </a:pPr>
            <a:endParaRPr lang="en-US" sz="4920" b="1">
              <a:solidFill>
                <a:srgbClr val="64B349"/>
              </a:solidFill>
              <a:latin typeface="DM Sans Bold"/>
              <a:ea typeface="DM Sans Bold"/>
              <a:cs typeface="DM Sans Bold"/>
              <a:sym typeface="DM Sans Bold"/>
            </a:endParaRPr>
          </a:p>
        </p:txBody>
      </p:sp>
      <p:grpSp>
        <p:nvGrpSpPr>
          <p:cNvPr id="12" name="Group 12"/>
          <p:cNvGrpSpPr/>
          <p:nvPr/>
        </p:nvGrpSpPr>
        <p:grpSpPr>
          <a:xfrm>
            <a:off x="13843737" y="891434"/>
            <a:ext cx="3477281" cy="571500"/>
            <a:chOff x="0" y="0"/>
            <a:chExt cx="4636374" cy="762000"/>
          </a:xfrm>
        </p:grpSpPr>
        <p:grpSp>
          <p:nvGrpSpPr>
            <p:cNvPr id="13" name="Group 13"/>
            <p:cNvGrpSpPr/>
            <p:nvPr/>
          </p:nvGrpSpPr>
          <p:grpSpPr>
            <a:xfrm rot="-10800000">
              <a:off x="0" y="0"/>
              <a:ext cx="4418262" cy="762000"/>
              <a:chOff x="0" y="0"/>
              <a:chExt cx="1710217" cy="294994"/>
            </a:xfrm>
          </p:grpSpPr>
          <p:sp>
            <p:nvSpPr>
              <p:cNvPr id="14" name="Freeform 14"/>
              <p:cNvSpPr/>
              <p:nvPr/>
            </p:nvSpPr>
            <p:spPr>
              <a:xfrm>
                <a:off x="0" y="0"/>
                <a:ext cx="1710217" cy="294994"/>
              </a:xfrm>
              <a:custGeom>
                <a:avLst/>
                <a:gdLst/>
                <a:ahLst/>
                <a:cxnLst/>
                <a:rect l="l" t="t" r="r" b="b"/>
                <a:pathLst>
                  <a:path w="1710217" h="294994">
                    <a:moveTo>
                      <a:pt x="1710217" y="14543"/>
                    </a:moveTo>
                    <a:lnTo>
                      <a:pt x="1710217" y="280451"/>
                    </a:lnTo>
                    <a:cubicBezTo>
                      <a:pt x="1710217" y="284308"/>
                      <a:pt x="1708685" y="288007"/>
                      <a:pt x="1705957" y="290734"/>
                    </a:cubicBezTo>
                    <a:cubicBezTo>
                      <a:pt x="1703230" y="293462"/>
                      <a:pt x="1699531" y="294994"/>
                      <a:pt x="1695674" y="294994"/>
                    </a:cubicBezTo>
                    <a:lnTo>
                      <a:pt x="14543" y="294994"/>
                    </a:lnTo>
                    <a:cubicBezTo>
                      <a:pt x="10686" y="294994"/>
                      <a:pt x="6987" y="293462"/>
                      <a:pt x="4259" y="290734"/>
                    </a:cubicBezTo>
                    <a:cubicBezTo>
                      <a:pt x="1532" y="288007"/>
                      <a:pt x="0" y="284308"/>
                      <a:pt x="0" y="280451"/>
                    </a:cubicBezTo>
                    <a:lnTo>
                      <a:pt x="0" y="14543"/>
                    </a:lnTo>
                    <a:cubicBezTo>
                      <a:pt x="0" y="10686"/>
                      <a:pt x="1532" y="6987"/>
                      <a:pt x="4259" y="4259"/>
                    </a:cubicBezTo>
                    <a:cubicBezTo>
                      <a:pt x="6987" y="1532"/>
                      <a:pt x="10686" y="0"/>
                      <a:pt x="14543" y="0"/>
                    </a:cubicBezTo>
                    <a:lnTo>
                      <a:pt x="1695674" y="0"/>
                    </a:lnTo>
                    <a:cubicBezTo>
                      <a:pt x="1699531" y="0"/>
                      <a:pt x="1703230" y="1532"/>
                      <a:pt x="1705957" y="4259"/>
                    </a:cubicBezTo>
                    <a:cubicBezTo>
                      <a:pt x="1708685" y="6987"/>
                      <a:pt x="1710217" y="10686"/>
                      <a:pt x="1710217" y="14543"/>
                    </a:cubicBezTo>
                    <a:close/>
                  </a:path>
                </a:pathLst>
              </a:custGeom>
              <a:solidFill>
                <a:srgbClr val="FFFFFF"/>
              </a:solidFill>
              <a:ln w="19050" cap="sq">
                <a:solidFill>
                  <a:srgbClr val="64B349"/>
                </a:solidFill>
                <a:prstDash val="solid"/>
                <a:miter/>
              </a:ln>
            </p:spPr>
          </p:sp>
          <p:sp>
            <p:nvSpPr>
              <p:cNvPr id="15" name="TextBox 15"/>
              <p:cNvSpPr txBox="1"/>
              <p:nvPr/>
            </p:nvSpPr>
            <p:spPr>
              <a:xfrm>
                <a:off x="0" y="-57150"/>
                <a:ext cx="1710217" cy="352144"/>
              </a:xfrm>
              <a:prstGeom prst="rect">
                <a:avLst/>
              </a:prstGeom>
            </p:spPr>
            <p:txBody>
              <a:bodyPr lIns="50800" tIns="50800" rIns="50800" bIns="50800" rtlCol="0" anchor="ctr"/>
              <a:lstStyle/>
              <a:p>
                <a:pPr algn="ctr">
                  <a:lnSpc>
                    <a:spcPts val="1944"/>
                  </a:lnSpc>
                </a:pPr>
                <a:endParaRPr/>
              </a:p>
            </p:txBody>
          </p:sp>
        </p:grpSp>
        <p:sp>
          <p:nvSpPr>
            <p:cNvPr id="16" name="TextBox 16"/>
            <p:cNvSpPr txBox="1"/>
            <p:nvPr/>
          </p:nvSpPr>
          <p:spPr>
            <a:xfrm>
              <a:off x="151966" y="198249"/>
              <a:ext cx="4484409" cy="358463"/>
            </a:xfrm>
            <a:prstGeom prst="rect">
              <a:avLst/>
            </a:prstGeom>
          </p:spPr>
          <p:txBody>
            <a:bodyPr lIns="0" tIns="0" rIns="0" bIns="0" rtlCol="0" anchor="t">
              <a:spAutoFit/>
            </a:bodyPr>
            <a:lstStyle/>
            <a:p>
              <a:pPr algn="l">
                <a:lnSpc>
                  <a:spcPts val="2084"/>
                </a:lnSpc>
              </a:pPr>
              <a:r>
                <a:rPr lang="en-US" sz="1929" b="1">
                  <a:solidFill>
                    <a:srgbClr val="000000"/>
                  </a:solidFill>
                  <a:latin typeface="DM Sans Bold"/>
                  <a:ea typeface="DM Sans Bold"/>
                  <a:cs typeface="DM Sans Bold"/>
                  <a:sym typeface="DM Sans Bold"/>
                </a:rPr>
                <a:t>ELECTRICAL DEPARTMENT</a:t>
              </a:r>
            </a:p>
          </p:txBody>
        </p:sp>
      </p:grpSp>
    </p:spTree>
  </p:cSld>
  <p:clrMapOvr>
    <a:masterClrMapping/>
  </p:clrMapOvr>
  <p:transition spd="slow">
    <p:cover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3910" y="536575"/>
            <a:ext cx="9580978" cy="731521"/>
          </a:xfrm>
          <a:prstGeom prst="rect">
            <a:avLst/>
          </a:prstGeom>
        </p:spPr>
        <p:txBody>
          <a:bodyPr lIns="0" tIns="0" rIns="0" bIns="0" rtlCol="0" anchor="t">
            <a:spAutoFit/>
          </a:bodyPr>
          <a:lstStyle/>
          <a:p>
            <a:pPr algn="l">
              <a:lnSpc>
                <a:spcPts val="5610"/>
              </a:lnSpc>
            </a:pPr>
            <a:r>
              <a:rPr lang="en-US" sz="5100" b="1">
                <a:solidFill>
                  <a:srgbClr val="000000"/>
                </a:solidFill>
                <a:latin typeface="DM Sans Bold"/>
                <a:ea typeface="DM Sans Bold"/>
                <a:cs typeface="DM Sans Bold"/>
                <a:sym typeface="DM Sans Bold"/>
              </a:rPr>
              <a:t>Suspicious Performance Spike</a:t>
            </a:r>
          </a:p>
        </p:txBody>
      </p:sp>
      <p:grpSp>
        <p:nvGrpSpPr>
          <p:cNvPr id="3" name="Group 3"/>
          <p:cNvGrpSpPr/>
          <p:nvPr/>
        </p:nvGrpSpPr>
        <p:grpSpPr>
          <a:xfrm>
            <a:off x="9849138" y="212725"/>
            <a:ext cx="2779700" cy="571500"/>
            <a:chOff x="0" y="0"/>
            <a:chExt cx="3706266" cy="762000"/>
          </a:xfrm>
        </p:grpSpPr>
        <p:grpSp>
          <p:nvGrpSpPr>
            <p:cNvPr id="4" name="Group 4"/>
            <p:cNvGrpSpPr/>
            <p:nvPr/>
          </p:nvGrpSpPr>
          <p:grpSpPr>
            <a:xfrm rot="-10800000">
              <a:off x="0" y="0"/>
              <a:ext cx="3706266" cy="762000"/>
              <a:chOff x="0" y="0"/>
              <a:chExt cx="1710217" cy="351664"/>
            </a:xfrm>
          </p:grpSpPr>
          <p:sp>
            <p:nvSpPr>
              <p:cNvPr id="5" name="Freeform 5"/>
              <p:cNvSpPr/>
              <p:nvPr/>
            </p:nvSpPr>
            <p:spPr>
              <a:xfrm>
                <a:off x="0" y="0"/>
                <a:ext cx="1710217" cy="351664"/>
              </a:xfrm>
              <a:custGeom>
                <a:avLst/>
                <a:gdLst/>
                <a:ahLst/>
                <a:cxnLst/>
                <a:rect l="l" t="t" r="r" b="b"/>
                <a:pathLst>
                  <a:path w="1710217" h="351664">
                    <a:moveTo>
                      <a:pt x="1710217" y="18186"/>
                    </a:moveTo>
                    <a:lnTo>
                      <a:pt x="1710217" y="333477"/>
                    </a:lnTo>
                    <a:cubicBezTo>
                      <a:pt x="1710217" y="343521"/>
                      <a:pt x="1702074" y="351664"/>
                      <a:pt x="1692030" y="351664"/>
                    </a:cubicBezTo>
                    <a:lnTo>
                      <a:pt x="18186" y="351664"/>
                    </a:lnTo>
                    <a:cubicBezTo>
                      <a:pt x="8142" y="351664"/>
                      <a:pt x="0" y="343521"/>
                      <a:pt x="0" y="333477"/>
                    </a:cubicBezTo>
                    <a:lnTo>
                      <a:pt x="0" y="18186"/>
                    </a:lnTo>
                    <a:cubicBezTo>
                      <a:pt x="0" y="8142"/>
                      <a:pt x="8142" y="0"/>
                      <a:pt x="18186" y="0"/>
                    </a:cubicBezTo>
                    <a:lnTo>
                      <a:pt x="1692030" y="0"/>
                    </a:lnTo>
                    <a:cubicBezTo>
                      <a:pt x="1696854" y="0"/>
                      <a:pt x="1701479" y="1916"/>
                      <a:pt x="1704890" y="5327"/>
                    </a:cubicBezTo>
                    <a:cubicBezTo>
                      <a:pt x="1708301" y="8737"/>
                      <a:pt x="1710217" y="13363"/>
                      <a:pt x="1710217" y="18186"/>
                    </a:cubicBezTo>
                    <a:close/>
                  </a:path>
                </a:pathLst>
              </a:custGeom>
              <a:solidFill>
                <a:srgbClr val="FFFFFF"/>
              </a:solidFill>
              <a:ln w="19050" cap="sq">
                <a:solidFill>
                  <a:srgbClr val="64B349"/>
                </a:solidFill>
                <a:prstDash val="solid"/>
                <a:miter/>
              </a:ln>
            </p:spPr>
          </p:sp>
          <p:sp>
            <p:nvSpPr>
              <p:cNvPr id="6" name="TextBox 6"/>
              <p:cNvSpPr txBox="1"/>
              <p:nvPr/>
            </p:nvSpPr>
            <p:spPr>
              <a:xfrm>
                <a:off x="0" y="-57150"/>
                <a:ext cx="1710217" cy="408814"/>
              </a:xfrm>
              <a:prstGeom prst="rect">
                <a:avLst/>
              </a:prstGeom>
            </p:spPr>
            <p:txBody>
              <a:bodyPr lIns="50800" tIns="50800" rIns="50800" bIns="50800" rtlCol="0" anchor="ctr"/>
              <a:lstStyle/>
              <a:p>
                <a:pPr algn="ctr">
                  <a:lnSpc>
                    <a:spcPts val="1944"/>
                  </a:lnSpc>
                </a:pPr>
                <a:endParaRPr/>
              </a:p>
            </p:txBody>
          </p:sp>
        </p:grpSp>
        <p:sp>
          <p:nvSpPr>
            <p:cNvPr id="7" name="TextBox 7"/>
            <p:cNvSpPr txBox="1"/>
            <p:nvPr/>
          </p:nvSpPr>
          <p:spPr>
            <a:xfrm>
              <a:off x="159417" y="206568"/>
              <a:ext cx="3546850" cy="377439"/>
            </a:xfrm>
            <a:prstGeom prst="rect">
              <a:avLst/>
            </a:prstGeom>
          </p:spPr>
          <p:txBody>
            <a:bodyPr lIns="0" tIns="0" rIns="0" bIns="0" rtlCol="0" anchor="t">
              <a:spAutoFit/>
            </a:bodyPr>
            <a:lstStyle/>
            <a:p>
              <a:pPr algn="l">
                <a:lnSpc>
                  <a:spcPts val="2186"/>
                </a:lnSpc>
              </a:pPr>
              <a:r>
                <a:rPr lang="en-US" sz="2024" b="1">
                  <a:solidFill>
                    <a:srgbClr val="000000"/>
                  </a:solidFill>
                  <a:latin typeface="DM Sans Bold"/>
                  <a:ea typeface="DM Sans Bold"/>
                  <a:cs typeface="DM Sans Bold"/>
                  <a:sym typeface="DM Sans Bold"/>
                </a:rPr>
                <a:t>COMPUTER SCIENCE</a:t>
              </a:r>
            </a:p>
          </p:txBody>
        </p:sp>
      </p:grpSp>
      <p:grpSp>
        <p:nvGrpSpPr>
          <p:cNvPr id="8" name="Group 8"/>
          <p:cNvGrpSpPr/>
          <p:nvPr/>
        </p:nvGrpSpPr>
        <p:grpSpPr>
          <a:xfrm>
            <a:off x="424872" y="2121576"/>
            <a:ext cx="16767753" cy="1994942"/>
            <a:chOff x="0" y="0"/>
            <a:chExt cx="3294104" cy="391916"/>
          </a:xfrm>
        </p:grpSpPr>
        <p:sp>
          <p:nvSpPr>
            <p:cNvPr id="9" name="Freeform 9"/>
            <p:cNvSpPr/>
            <p:nvPr/>
          </p:nvSpPr>
          <p:spPr>
            <a:xfrm>
              <a:off x="0" y="0"/>
              <a:ext cx="3294104" cy="391916"/>
            </a:xfrm>
            <a:custGeom>
              <a:avLst/>
              <a:gdLst/>
              <a:ahLst/>
              <a:cxnLst/>
              <a:rect l="l" t="t" r="r" b="b"/>
              <a:pathLst>
                <a:path w="3294104" h="391916">
                  <a:moveTo>
                    <a:pt x="13390" y="0"/>
                  </a:moveTo>
                  <a:lnTo>
                    <a:pt x="3280714" y="0"/>
                  </a:lnTo>
                  <a:cubicBezTo>
                    <a:pt x="3284266" y="0"/>
                    <a:pt x="3287671" y="1411"/>
                    <a:pt x="3290183" y="3922"/>
                  </a:cubicBezTo>
                  <a:cubicBezTo>
                    <a:pt x="3292694" y="6433"/>
                    <a:pt x="3294104" y="9839"/>
                    <a:pt x="3294104" y="13390"/>
                  </a:cubicBezTo>
                  <a:lnTo>
                    <a:pt x="3294104" y="378526"/>
                  </a:lnTo>
                  <a:cubicBezTo>
                    <a:pt x="3294104" y="382077"/>
                    <a:pt x="3292694" y="385483"/>
                    <a:pt x="3290183" y="387994"/>
                  </a:cubicBezTo>
                  <a:cubicBezTo>
                    <a:pt x="3287671" y="390505"/>
                    <a:pt x="3284266" y="391916"/>
                    <a:pt x="3280714" y="391916"/>
                  </a:cubicBezTo>
                  <a:lnTo>
                    <a:pt x="13390" y="391916"/>
                  </a:lnTo>
                  <a:cubicBezTo>
                    <a:pt x="5995" y="391916"/>
                    <a:pt x="0" y="385921"/>
                    <a:pt x="0" y="378526"/>
                  </a:cubicBezTo>
                  <a:lnTo>
                    <a:pt x="0" y="13390"/>
                  </a:lnTo>
                  <a:cubicBezTo>
                    <a:pt x="0" y="5995"/>
                    <a:pt x="5995" y="0"/>
                    <a:pt x="13390" y="0"/>
                  </a:cubicBezTo>
                  <a:close/>
                </a:path>
              </a:pathLst>
            </a:custGeom>
            <a:solidFill>
              <a:srgbClr val="64B349"/>
            </a:solidFill>
          </p:spPr>
        </p:sp>
        <p:sp>
          <p:nvSpPr>
            <p:cNvPr id="10" name="TextBox 10"/>
            <p:cNvSpPr txBox="1"/>
            <p:nvPr/>
          </p:nvSpPr>
          <p:spPr>
            <a:xfrm>
              <a:off x="0" y="-95250"/>
              <a:ext cx="3294104" cy="487166"/>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3554255" y="7627409"/>
            <a:ext cx="436086" cy="436086"/>
            <a:chOff x="0" y="0"/>
            <a:chExt cx="812800" cy="812800"/>
          </a:xfrm>
        </p:grpSpPr>
        <p:sp>
          <p:nvSpPr>
            <p:cNvPr id="12" name="Freeform 1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64B347"/>
            </a:solidFill>
          </p:spPr>
        </p:sp>
        <p:sp>
          <p:nvSpPr>
            <p:cNvPr id="13" name="TextBox 13"/>
            <p:cNvSpPr txBox="1"/>
            <p:nvPr/>
          </p:nvSpPr>
          <p:spPr>
            <a:xfrm>
              <a:off x="0" y="107950"/>
              <a:ext cx="711200" cy="501650"/>
            </a:xfrm>
            <a:prstGeom prst="rect">
              <a:avLst/>
            </a:prstGeom>
          </p:spPr>
          <p:txBody>
            <a:bodyPr lIns="50800" tIns="50800" rIns="50800" bIns="50800" rtlCol="0" anchor="ctr"/>
            <a:lstStyle/>
            <a:p>
              <a:pPr algn="ctr">
                <a:lnSpc>
                  <a:spcPts val="3401"/>
                </a:lnSpc>
              </a:pPr>
              <a:endParaRPr/>
            </a:p>
          </p:txBody>
        </p:sp>
      </p:grpSp>
      <p:sp>
        <p:nvSpPr>
          <p:cNvPr id="14" name="TextBox 14"/>
          <p:cNvSpPr txBox="1"/>
          <p:nvPr/>
        </p:nvSpPr>
        <p:spPr>
          <a:xfrm>
            <a:off x="553910" y="1400862"/>
            <a:ext cx="14674122" cy="530214"/>
          </a:xfrm>
          <a:prstGeom prst="rect">
            <a:avLst/>
          </a:prstGeom>
        </p:spPr>
        <p:txBody>
          <a:bodyPr lIns="0" tIns="0" rIns="0" bIns="0" rtlCol="0" anchor="t">
            <a:spAutoFit/>
          </a:bodyPr>
          <a:lstStyle/>
          <a:p>
            <a:pPr algn="l">
              <a:lnSpc>
                <a:spcPts val="4375"/>
              </a:lnSpc>
            </a:pPr>
            <a:r>
              <a:rPr lang="en-US" sz="3125">
                <a:solidFill>
                  <a:srgbClr val="000000"/>
                </a:solidFill>
                <a:latin typeface="DM Sans"/>
                <a:ea typeface="DM Sans"/>
                <a:cs typeface="DM Sans"/>
                <a:sym typeface="DM Sans"/>
              </a:rPr>
              <a:t>The Spike you see in the ScatterPlot is </a:t>
            </a:r>
            <a:r>
              <a:rPr lang="en-US" sz="3125" b="1">
                <a:solidFill>
                  <a:srgbClr val="000000"/>
                </a:solidFill>
                <a:latin typeface="DM Sans Bold"/>
                <a:ea typeface="DM Sans Bold"/>
                <a:cs typeface="DM Sans Bold"/>
                <a:sym typeface="DM Sans Bold"/>
              </a:rPr>
              <a:t>NOT</a:t>
            </a:r>
            <a:r>
              <a:rPr lang="en-US" sz="3125">
                <a:solidFill>
                  <a:srgbClr val="000000"/>
                </a:solidFill>
                <a:latin typeface="DM Sans"/>
                <a:ea typeface="DM Sans"/>
                <a:cs typeface="DM Sans"/>
                <a:sym typeface="DM Sans"/>
              </a:rPr>
              <a:t> normal.</a:t>
            </a:r>
          </a:p>
        </p:txBody>
      </p:sp>
      <p:sp>
        <p:nvSpPr>
          <p:cNvPr id="15" name="TextBox 15"/>
          <p:cNvSpPr txBox="1"/>
          <p:nvPr/>
        </p:nvSpPr>
        <p:spPr>
          <a:xfrm>
            <a:off x="553910" y="2272915"/>
            <a:ext cx="16230600" cy="1635114"/>
          </a:xfrm>
          <a:prstGeom prst="rect">
            <a:avLst/>
          </a:prstGeom>
        </p:spPr>
        <p:txBody>
          <a:bodyPr lIns="0" tIns="0" rIns="0" bIns="0" rtlCol="0" anchor="t">
            <a:spAutoFit/>
          </a:bodyPr>
          <a:lstStyle/>
          <a:p>
            <a:pPr algn="l">
              <a:lnSpc>
                <a:spcPts val="4375"/>
              </a:lnSpc>
            </a:pPr>
            <a:r>
              <a:rPr lang="en-US" sz="3125" b="1">
                <a:solidFill>
                  <a:srgbClr val="FFFFFF"/>
                </a:solidFill>
                <a:latin typeface="DM Sans Bold"/>
                <a:ea typeface="DM Sans Bold"/>
                <a:cs typeface="DM Sans Bold"/>
                <a:sym typeface="DM Sans Bold"/>
              </a:rPr>
              <a:t>IT IS THE STRONGEST VISUAL EVIDENCE SUPPORTING OUR </a:t>
            </a:r>
            <a:r>
              <a:rPr lang="en-US" sz="3125" b="1">
                <a:solidFill>
                  <a:srgbClr val="000000"/>
                </a:solidFill>
                <a:latin typeface="DM Sans Bold"/>
                <a:ea typeface="DM Sans Bold"/>
                <a:cs typeface="DM Sans Bold"/>
                <a:sym typeface="DM Sans Bold"/>
              </a:rPr>
              <a:t>MAIN HYPOTHESIS</a:t>
            </a:r>
            <a:r>
              <a:rPr lang="en-US" sz="3125" b="1">
                <a:solidFill>
                  <a:srgbClr val="FFFFFF"/>
                </a:solidFill>
                <a:latin typeface="DM Sans Bold"/>
                <a:ea typeface="DM Sans Bold"/>
                <a:cs typeface="DM Sans Bold"/>
                <a:sym typeface="DM Sans Bold"/>
              </a:rPr>
              <a:t> </a:t>
            </a:r>
          </a:p>
          <a:p>
            <a:pPr algn="l">
              <a:lnSpc>
                <a:spcPts val="4375"/>
              </a:lnSpc>
            </a:pPr>
            <a:r>
              <a:rPr lang="en-US" sz="3125" b="1">
                <a:solidFill>
                  <a:srgbClr val="FFFFFF"/>
                </a:solidFill>
                <a:latin typeface="DM Sans Bold"/>
                <a:ea typeface="DM Sans Bold"/>
                <a:cs typeface="DM Sans Bold"/>
                <a:sym typeface="DM Sans Bold"/>
              </a:rPr>
              <a:t>“STUDENTS WHO PERFORM POORLY IN UTME OFTEN PERFORM UNUSUALLY HIGH IN PUTME.”</a:t>
            </a:r>
          </a:p>
        </p:txBody>
      </p:sp>
      <p:sp>
        <p:nvSpPr>
          <p:cNvPr id="16" name="TextBox 16"/>
          <p:cNvSpPr txBox="1"/>
          <p:nvPr/>
        </p:nvSpPr>
        <p:spPr>
          <a:xfrm>
            <a:off x="487235" y="4173668"/>
            <a:ext cx="16705390" cy="2499476"/>
          </a:xfrm>
          <a:prstGeom prst="rect">
            <a:avLst/>
          </a:prstGeom>
        </p:spPr>
        <p:txBody>
          <a:bodyPr lIns="0" tIns="0" rIns="0" bIns="0" rtlCol="0" anchor="t">
            <a:spAutoFit/>
          </a:bodyPr>
          <a:lstStyle/>
          <a:p>
            <a:pPr algn="just">
              <a:lnSpc>
                <a:spcPts val="3983"/>
              </a:lnSpc>
            </a:pPr>
            <a:r>
              <a:rPr lang="en-US" sz="2845" b="1" spc="-145">
                <a:solidFill>
                  <a:srgbClr val="000000"/>
                </a:solidFill>
                <a:latin typeface="DM Sans Bold"/>
                <a:ea typeface="DM Sans Bold"/>
                <a:cs typeface="DM Sans Bold"/>
                <a:sym typeface="DM Sans Bold"/>
              </a:rPr>
              <a:t>Low-Performing UTME Students Suddenly Become Top Scorers in PUTME. These patterns are not random; it's a repeated trend. The spike is too frequent to be normal academic improvement. In a real exam system, this shouldn’t happen so consistently. Normally, if you're weak in UTME (hard &amp; supervised), you should also struggle in PUTME (same CBT style). But in our case, the analysis and scatter plot prove the opposite: students who struggle in UTME do very well in the PUTME exam.</a:t>
            </a:r>
          </a:p>
        </p:txBody>
      </p:sp>
      <p:grpSp>
        <p:nvGrpSpPr>
          <p:cNvPr id="17" name="Group 17"/>
          <p:cNvGrpSpPr/>
          <p:nvPr/>
        </p:nvGrpSpPr>
        <p:grpSpPr>
          <a:xfrm>
            <a:off x="456053" y="7200675"/>
            <a:ext cx="2986127" cy="1370019"/>
            <a:chOff x="0" y="0"/>
            <a:chExt cx="3981503" cy="1826692"/>
          </a:xfrm>
        </p:grpSpPr>
        <p:grpSp>
          <p:nvGrpSpPr>
            <p:cNvPr id="18" name="Group 18"/>
            <p:cNvGrpSpPr/>
            <p:nvPr/>
          </p:nvGrpSpPr>
          <p:grpSpPr>
            <a:xfrm>
              <a:off x="0" y="0"/>
              <a:ext cx="3981503" cy="1826692"/>
              <a:chOff x="0" y="0"/>
              <a:chExt cx="526952" cy="241763"/>
            </a:xfrm>
          </p:grpSpPr>
          <p:sp>
            <p:nvSpPr>
              <p:cNvPr id="19" name="Freeform 19"/>
              <p:cNvSpPr/>
              <p:nvPr/>
            </p:nvSpPr>
            <p:spPr>
              <a:xfrm>
                <a:off x="0" y="0"/>
                <a:ext cx="526952" cy="241763"/>
              </a:xfrm>
              <a:custGeom>
                <a:avLst/>
                <a:gdLst/>
                <a:ahLst/>
                <a:cxnLst/>
                <a:rect l="l" t="t" r="r" b="b"/>
                <a:pathLst>
                  <a:path w="526952" h="241763">
                    <a:moveTo>
                      <a:pt x="83702" y="0"/>
                    </a:moveTo>
                    <a:lnTo>
                      <a:pt x="443250" y="0"/>
                    </a:lnTo>
                    <a:cubicBezTo>
                      <a:pt x="465449" y="0"/>
                      <a:pt x="486739" y="8819"/>
                      <a:pt x="502436" y="24516"/>
                    </a:cubicBezTo>
                    <a:cubicBezTo>
                      <a:pt x="518133" y="40213"/>
                      <a:pt x="526952" y="61503"/>
                      <a:pt x="526952" y="83702"/>
                    </a:cubicBezTo>
                    <a:lnTo>
                      <a:pt x="526952" y="158060"/>
                    </a:lnTo>
                    <a:cubicBezTo>
                      <a:pt x="526952" y="180260"/>
                      <a:pt x="518133" y="201550"/>
                      <a:pt x="502436" y="217247"/>
                    </a:cubicBezTo>
                    <a:cubicBezTo>
                      <a:pt x="486739" y="232944"/>
                      <a:pt x="465449" y="241763"/>
                      <a:pt x="443250" y="241763"/>
                    </a:cubicBezTo>
                    <a:lnTo>
                      <a:pt x="83702" y="241763"/>
                    </a:lnTo>
                    <a:cubicBezTo>
                      <a:pt x="61503" y="241763"/>
                      <a:pt x="40213" y="232944"/>
                      <a:pt x="24516" y="217247"/>
                    </a:cubicBezTo>
                    <a:cubicBezTo>
                      <a:pt x="8819" y="201550"/>
                      <a:pt x="0" y="180260"/>
                      <a:pt x="0" y="158060"/>
                    </a:cubicBezTo>
                    <a:lnTo>
                      <a:pt x="0" y="83702"/>
                    </a:lnTo>
                    <a:cubicBezTo>
                      <a:pt x="0" y="61503"/>
                      <a:pt x="8819" y="40213"/>
                      <a:pt x="24516" y="24516"/>
                    </a:cubicBezTo>
                    <a:cubicBezTo>
                      <a:pt x="40213" y="8819"/>
                      <a:pt x="61503" y="0"/>
                      <a:pt x="83702" y="0"/>
                    </a:cubicBezTo>
                    <a:close/>
                  </a:path>
                </a:pathLst>
              </a:custGeom>
              <a:solidFill>
                <a:srgbClr val="64B347"/>
              </a:solidFill>
            </p:spPr>
          </p:sp>
          <p:sp>
            <p:nvSpPr>
              <p:cNvPr id="20" name="TextBox 20"/>
              <p:cNvSpPr txBox="1"/>
              <p:nvPr/>
            </p:nvSpPr>
            <p:spPr>
              <a:xfrm>
                <a:off x="0" y="-95250"/>
                <a:ext cx="526952" cy="337013"/>
              </a:xfrm>
              <a:prstGeom prst="rect">
                <a:avLst/>
              </a:prstGeom>
            </p:spPr>
            <p:txBody>
              <a:bodyPr lIns="50800" tIns="50800" rIns="50800" bIns="50800" rtlCol="0" anchor="ctr"/>
              <a:lstStyle/>
              <a:p>
                <a:pPr algn="ctr">
                  <a:lnSpc>
                    <a:spcPts val="3401"/>
                  </a:lnSpc>
                </a:pPr>
                <a:endParaRPr/>
              </a:p>
            </p:txBody>
          </p:sp>
        </p:grpSp>
        <p:sp>
          <p:nvSpPr>
            <p:cNvPr id="21" name="TextBox 21"/>
            <p:cNvSpPr txBox="1"/>
            <p:nvPr/>
          </p:nvSpPr>
          <p:spPr>
            <a:xfrm>
              <a:off x="609391" y="339656"/>
              <a:ext cx="3372112" cy="1052130"/>
            </a:xfrm>
            <a:prstGeom prst="rect">
              <a:avLst/>
            </a:prstGeom>
          </p:spPr>
          <p:txBody>
            <a:bodyPr lIns="0" tIns="0" rIns="0" bIns="0" rtlCol="0" anchor="t">
              <a:spAutoFit/>
            </a:bodyPr>
            <a:lstStyle/>
            <a:p>
              <a:pPr algn="l">
                <a:lnSpc>
                  <a:spcPts val="6616"/>
                </a:lnSpc>
              </a:pPr>
              <a:r>
                <a:rPr lang="en-US" sz="4726" b="1" spc="420">
                  <a:solidFill>
                    <a:srgbClr val="FFFFFF"/>
                  </a:solidFill>
                  <a:latin typeface="DM Sans Bold"/>
                  <a:ea typeface="DM Sans Bold"/>
                  <a:cs typeface="DM Sans Bold"/>
                  <a:sym typeface="DM Sans Bold"/>
                </a:rPr>
                <a:t>WHY ?</a:t>
              </a:r>
            </a:p>
          </p:txBody>
        </p:sp>
      </p:grpSp>
      <p:sp>
        <p:nvSpPr>
          <p:cNvPr id="22" name="TextBox 22"/>
          <p:cNvSpPr txBox="1"/>
          <p:nvPr/>
        </p:nvSpPr>
        <p:spPr>
          <a:xfrm>
            <a:off x="4102414" y="7044620"/>
            <a:ext cx="13059029" cy="1515022"/>
          </a:xfrm>
          <a:prstGeom prst="rect">
            <a:avLst/>
          </a:prstGeom>
        </p:spPr>
        <p:txBody>
          <a:bodyPr lIns="0" tIns="0" rIns="0" bIns="0" rtlCol="0" anchor="t">
            <a:spAutoFit/>
          </a:bodyPr>
          <a:lstStyle/>
          <a:p>
            <a:pPr algn="just">
              <a:lnSpc>
                <a:spcPts val="4004"/>
              </a:lnSpc>
            </a:pPr>
            <a:r>
              <a:rPr lang="en-US" sz="3152" b="1" spc="-230">
                <a:solidFill>
                  <a:srgbClr val="000000"/>
                </a:solidFill>
                <a:latin typeface="DM Sans Bold"/>
                <a:ea typeface="DM Sans Bold"/>
                <a:cs typeface="DM Sans Bold"/>
                <a:sym typeface="DM Sans Bold"/>
              </a:rPr>
              <a:t>A logical explanation for the pattern is the absence of supervision during the Post-UTME exam, which creates opportunities for students to inflate their scores through dishonest means.</a:t>
            </a:r>
          </a:p>
        </p:txBody>
      </p:sp>
      <p:sp>
        <p:nvSpPr>
          <p:cNvPr id="28" name="TextBox 28"/>
          <p:cNvSpPr txBox="1"/>
          <p:nvPr/>
        </p:nvSpPr>
        <p:spPr>
          <a:xfrm>
            <a:off x="487235" y="8855824"/>
            <a:ext cx="4696133" cy="660218"/>
          </a:xfrm>
          <a:prstGeom prst="rect">
            <a:avLst/>
          </a:prstGeom>
        </p:spPr>
        <p:txBody>
          <a:bodyPr lIns="0" tIns="0" rIns="0" bIns="0" rtlCol="0" anchor="t">
            <a:spAutoFit/>
          </a:bodyPr>
          <a:lstStyle/>
          <a:p>
            <a:pPr algn="just">
              <a:lnSpc>
                <a:spcPts val="5273"/>
              </a:lnSpc>
            </a:pPr>
            <a:r>
              <a:rPr lang="en-US" sz="4152" b="1" i="1" spc="-303">
                <a:solidFill>
                  <a:srgbClr val="FF6937"/>
                </a:solidFill>
                <a:latin typeface="DM Sans Bold Italics"/>
                <a:ea typeface="DM Sans Bold Italics"/>
                <a:cs typeface="DM Sans Bold Italics"/>
                <a:sym typeface="DM Sans Bold Italics"/>
              </a:rPr>
              <a:t>Other  Explaination</a:t>
            </a:r>
          </a:p>
        </p:txBody>
      </p:sp>
      <p:grpSp>
        <p:nvGrpSpPr>
          <p:cNvPr id="29" name="Group 29"/>
          <p:cNvGrpSpPr/>
          <p:nvPr/>
        </p:nvGrpSpPr>
        <p:grpSpPr>
          <a:xfrm>
            <a:off x="4965325" y="9040257"/>
            <a:ext cx="436086" cy="436086"/>
            <a:chOff x="0" y="0"/>
            <a:chExt cx="812800" cy="812800"/>
          </a:xfrm>
        </p:grpSpPr>
        <p:sp>
          <p:nvSpPr>
            <p:cNvPr id="30" name="Freeform 30"/>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64B347"/>
            </a:solidFill>
          </p:spPr>
        </p:sp>
        <p:sp>
          <p:nvSpPr>
            <p:cNvPr id="31" name="TextBox 31"/>
            <p:cNvSpPr txBox="1"/>
            <p:nvPr/>
          </p:nvSpPr>
          <p:spPr>
            <a:xfrm>
              <a:off x="0" y="107950"/>
              <a:ext cx="711200" cy="501650"/>
            </a:xfrm>
            <a:prstGeom prst="rect">
              <a:avLst/>
            </a:prstGeom>
          </p:spPr>
          <p:txBody>
            <a:bodyPr lIns="50800" tIns="50800" rIns="50800" bIns="50800" rtlCol="0" anchor="ctr"/>
            <a:lstStyle/>
            <a:p>
              <a:pPr algn="ctr">
                <a:lnSpc>
                  <a:spcPts val="3401"/>
                </a:lnSpc>
              </a:pPr>
              <a:endParaRPr/>
            </a:p>
          </p:txBody>
        </p:sp>
      </p:grpSp>
      <p:sp>
        <p:nvSpPr>
          <p:cNvPr id="32" name="TextBox 32"/>
          <p:cNvSpPr txBox="1"/>
          <p:nvPr/>
        </p:nvSpPr>
        <p:spPr>
          <a:xfrm>
            <a:off x="5636462" y="9045810"/>
            <a:ext cx="3974708"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Different exam difficulty</a:t>
            </a:r>
          </a:p>
        </p:txBody>
      </p:sp>
      <p:sp>
        <p:nvSpPr>
          <p:cNvPr id="33" name="TextBox 33"/>
          <p:cNvSpPr txBox="1"/>
          <p:nvPr/>
        </p:nvSpPr>
        <p:spPr>
          <a:xfrm>
            <a:off x="9849138" y="9045810"/>
            <a:ext cx="3373307"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Content mismatch</a:t>
            </a:r>
          </a:p>
        </p:txBody>
      </p:sp>
      <p:sp>
        <p:nvSpPr>
          <p:cNvPr id="34" name="TextBox 34"/>
          <p:cNvSpPr txBox="1"/>
          <p:nvPr/>
        </p:nvSpPr>
        <p:spPr>
          <a:xfrm>
            <a:off x="12925641" y="9045810"/>
            <a:ext cx="4235802"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Invalid test environment</a:t>
            </a:r>
          </a:p>
        </p:txBody>
      </p:sp>
    </p:spTree>
  </p:cSld>
  <p:clrMapOvr>
    <a:masterClrMapping/>
  </p:clrMapOvr>
  <p:transition spd="slow">
    <p:cover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861259"/>
            <a:ext cx="16158015" cy="7695255"/>
          </a:xfrm>
          <a:custGeom>
            <a:avLst/>
            <a:gdLst/>
            <a:ahLst/>
            <a:cxnLst/>
            <a:rect l="l" t="t" r="r" b="b"/>
            <a:pathLst>
              <a:path w="16158015" h="7695255">
                <a:moveTo>
                  <a:pt x="0" y="0"/>
                </a:moveTo>
                <a:lnTo>
                  <a:pt x="16158015" y="0"/>
                </a:lnTo>
                <a:lnTo>
                  <a:pt x="16158015" y="7695254"/>
                </a:lnTo>
                <a:lnTo>
                  <a:pt x="0" y="7695254"/>
                </a:lnTo>
                <a:lnTo>
                  <a:pt x="0" y="0"/>
                </a:lnTo>
                <a:close/>
              </a:path>
            </a:pathLst>
          </a:custGeom>
          <a:blipFill>
            <a:blip r:embed="rId2"/>
            <a:stretch>
              <a:fillRect/>
            </a:stretch>
          </a:blipFill>
        </p:spPr>
      </p:sp>
      <p:grpSp>
        <p:nvGrpSpPr>
          <p:cNvPr id="3" name="Group 3"/>
          <p:cNvGrpSpPr/>
          <p:nvPr/>
        </p:nvGrpSpPr>
        <p:grpSpPr>
          <a:xfrm rot="-10800000">
            <a:off x="6419252" y="180811"/>
            <a:ext cx="5894598" cy="1079406"/>
            <a:chOff x="0" y="0"/>
            <a:chExt cx="1593143" cy="291772"/>
          </a:xfrm>
        </p:grpSpPr>
        <p:sp>
          <p:nvSpPr>
            <p:cNvPr id="4" name="Freeform 4"/>
            <p:cNvSpPr/>
            <p:nvPr/>
          </p:nvSpPr>
          <p:spPr>
            <a:xfrm>
              <a:off x="0" y="0"/>
              <a:ext cx="1593143" cy="291772"/>
            </a:xfrm>
            <a:custGeom>
              <a:avLst/>
              <a:gdLst/>
              <a:ahLst/>
              <a:cxnLst/>
              <a:rect l="l" t="t" r="r" b="b"/>
              <a:pathLst>
                <a:path w="1593143" h="291772">
                  <a:moveTo>
                    <a:pt x="1593143" y="13134"/>
                  </a:moveTo>
                  <a:lnTo>
                    <a:pt x="1593143" y="278638"/>
                  </a:lnTo>
                  <a:cubicBezTo>
                    <a:pt x="1593143" y="285892"/>
                    <a:pt x="1587262" y="291772"/>
                    <a:pt x="1580009" y="291772"/>
                  </a:cubicBezTo>
                  <a:lnTo>
                    <a:pt x="13134" y="291772"/>
                  </a:lnTo>
                  <a:cubicBezTo>
                    <a:pt x="9651" y="291772"/>
                    <a:pt x="6310" y="290388"/>
                    <a:pt x="3847" y="287925"/>
                  </a:cubicBezTo>
                  <a:cubicBezTo>
                    <a:pt x="1384" y="285462"/>
                    <a:pt x="0" y="282121"/>
                    <a:pt x="0" y="278638"/>
                  </a:cubicBezTo>
                  <a:lnTo>
                    <a:pt x="0" y="13134"/>
                  </a:lnTo>
                  <a:cubicBezTo>
                    <a:pt x="0" y="9651"/>
                    <a:pt x="1384" y="6310"/>
                    <a:pt x="3847" y="3847"/>
                  </a:cubicBezTo>
                  <a:cubicBezTo>
                    <a:pt x="6310" y="1384"/>
                    <a:pt x="9651" y="0"/>
                    <a:pt x="13134" y="0"/>
                  </a:cubicBezTo>
                  <a:lnTo>
                    <a:pt x="1580009" y="0"/>
                  </a:lnTo>
                  <a:cubicBezTo>
                    <a:pt x="1583492" y="0"/>
                    <a:pt x="1586833" y="1384"/>
                    <a:pt x="1589296" y="3847"/>
                  </a:cubicBezTo>
                  <a:cubicBezTo>
                    <a:pt x="1591759" y="6310"/>
                    <a:pt x="1593143" y="9651"/>
                    <a:pt x="1593143" y="13134"/>
                  </a:cubicBezTo>
                  <a:close/>
                </a:path>
              </a:pathLst>
            </a:custGeom>
            <a:solidFill>
              <a:srgbClr val="FFFFFF"/>
            </a:solidFill>
            <a:ln w="19050" cap="sq">
              <a:solidFill>
                <a:srgbClr val="64B349"/>
              </a:solidFill>
              <a:prstDash val="solid"/>
              <a:miter/>
            </a:ln>
          </p:spPr>
        </p:sp>
        <p:sp>
          <p:nvSpPr>
            <p:cNvPr id="5" name="TextBox 5"/>
            <p:cNvSpPr txBox="1"/>
            <p:nvPr/>
          </p:nvSpPr>
          <p:spPr>
            <a:xfrm>
              <a:off x="0" y="-57150"/>
              <a:ext cx="1593143" cy="348922"/>
            </a:xfrm>
            <a:prstGeom prst="rect">
              <a:avLst/>
            </a:prstGeom>
          </p:spPr>
          <p:txBody>
            <a:bodyPr lIns="33171" tIns="33171" rIns="33171" bIns="33171" rtlCol="0" anchor="ctr"/>
            <a:lstStyle/>
            <a:p>
              <a:pPr algn="ctr">
                <a:lnSpc>
                  <a:spcPts val="1944"/>
                </a:lnSpc>
              </a:pPr>
              <a:endParaRPr/>
            </a:p>
          </p:txBody>
        </p:sp>
      </p:grpSp>
      <p:sp>
        <p:nvSpPr>
          <p:cNvPr id="6" name="TextBox 6"/>
          <p:cNvSpPr txBox="1"/>
          <p:nvPr/>
        </p:nvSpPr>
        <p:spPr>
          <a:xfrm>
            <a:off x="6673904" y="516603"/>
            <a:ext cx="5639946" cy="333047"/>
          </a:xfrm>
          <a:prstGeom prst="rect">
            <a:avLst/>
          </a:prstGeom>
        </p:spPr>
        <p:txBody>
          <a:bodyPr lIns="0" tIns="0" rIns="0" bIns="0" rtlCol="0" anchor="t">
            <a:spAutoFit/>
          </a:bodyPr>
          <a:lstStyle/>
          <a:p>
            <a:pPr algn="l">
              <a:lnSpc>
                <a:spcPts val="2596"/>
              </a:lnSpc>
            </a:pPr>
            <a:r>
              <a:rPr lang="en-US" sz="2403" b="1">
                <a:solidFill>
                  <a:srgbClr val="000000"/>
                </a:solidFill>
                <a:latin typeface="DM Sans Bold"/>
                <a:ea typeface="DM Sans Bold"/>
                <a:cs typeface="DM Sans Bold"/>
                <a:sym typeface="DM Sans Bold"/>
              </a:rPr>
              <a:t>COMPUTER SCIENCE SCATTER PLOT </a:t>
            </a:r>
          </a:p>
        </p:txBody>
      </p:sp>
      <p:grpSp>
        <p:nvGrpSpPr>
          <p:cNvPr id="7" name="Group 7"/>
          <p:cNvGrpSpPr/>
          <p:nvPr/>
        </p:nvGrpSpPr>
        <p:grpSpPr>
          <a:xfrm rot="2302656">
            <a:off x="17555679" y="9684246"/>
            <a:ext cx="480833" cy="50842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a:ln w="12700">
              <a:solidFill>
                <a:srgbClr val="000000"/>
              </a:solidFill>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3910" y="536575"/>
            <a:ext cx="9580978" cy="731521"/>
          </a:xfrm>
          <a:prstGeom prst="rect">
            <a:avLst/>
          </a:prstGeom>
        </p:spPr>
        <p:txBody>
          <a:bodyPr lIns="0" tIns="0" rIns="0" bIns="0" rtlCol="0" anchor="t">
            <a:spAutoFit/>
          </a:bodyPr>
          <a:lstStyle/>
          <a:p>
            <a:pPr algn="l">
              <a:lnSpc>
                <a:spcPts val="5610"/>
              </a:lnSpc>
            </a:pPr>
            <a:r>
              <a:rPr lang="en-US" sz="5100" b="1">
                <a:solidFill>
                  <a:srgbClr val="000000"/>
                </a:solidFill>
                <a:latin typeface="DM Sans Bold"/>
                <a:ea typeface="DM Sans Bold"/>
                <a:cs typeface="DM Sans Bold"/>
                <a:sym typeface="DM Sans Bold"/>
              </a:rPr>
              <a:t>Suspicious Performance Spike</a:t>
            </a:r>
          </a:p>
        </p:txBody>
      </p:sp>
      <p:grpSp>
        <p:nvGrpSpPr>
          <p:cNvPr id="3" name="Group 3"/>
          <p:cNvGrpSpPr/>
          <p:nvPr/>
        </p:nvGrpSpPr>
        <p:grpSpPr>
          <a:xfrm>
            <a:off x="424872" y="2121576"/>
            <a:ext cx="16767753" cy="1994942"/>
            <a:chOff x="0" y="0"/>
            <a:chExt cx="3294104" cy="391916"/>
          </a:xfrm>
        </p:grpSpPr>
        <p:sp>
          <p:nvSpPr>
            <p:cNvPr id="4" name="Freeform 4"/>
            <p:cNvSpPr/>
            <p:nvPr/>
          </p:nvSpPr>
          <p:spPr>
            <a:xfrm>
              <a:off x="0" y="0"/>
              <a:ext cx="3294104" cy="391916"/>
            </a:xfrm>
            <a:custGeom>
              <a:avLst/>
              <a:gdLst/>
              <a:ahLst/>
              <a:cxnLst/>
              <a:rect l="l" t="t" r="r" b="b"/>
              <a:pathLst>
                <a:path w="3294104" h="391916">
                  <a:moveTo>
                    <a:pt x="13390" y="0"/>
                  </a:moveTo>
                  <a:lnTo>
                    <a:pt x="3280714" y="0"/>
                  </a:lnTo>
                  <a:cubicBezTo>
                    <a:pt x="3284266" y="0"/>
                    <a:pt x="3287671" y="1411"/>
                    <a:pt x="3290183" y="3922"/>
                  </a:cubicBezTo>
                  <a:cubicBezTo>
                    <a:pt x="3292694" y="6433"/>
                    <a:pt x="3294104" y="9839"/>
                    <a:pt x="3294104" y="13390"/>
                  </a:cubicBezTo>
                  <a:lnTo>
                    <a:pt x="3294104" y="378526"/>
                  </a:lnTo>
                  <a:cubicBezTo>
                    <a:pt x="3294104" y="382077"/>
                    <a:pt x="3292694" y="385483"/>
                    <a:pt x="3290183" y="387994"/>
                  </a:cubicBezTo>
                  <a:cubicBezTo>
                    <a:pt x="3287671" y="390505"/>
                    <a:pt x="3284266" y="391916"/>
                    <a:pt x="3280714" y="391916"/>
                  </a:cubicBezTo>
                  <a:lnTo>
                    <a:pt x="13390" y="391916"/>
                  </a:lnTo>
                  <a:cubicBezTo>
                    <a:pt x="5995" y="391916"/>
                    <a:pt x="0" y="385921"/>
                    <a:pt x="0" y="378526"/>
                  </a:cubicBezTo>
                  <a:lnTo>
                    <a:pt x="0" y="13390"/>
                  </a:lnTo>
                  <a:cubicBezTo>
                    <a:pt x="0" y="5995"/>
                    <a:pt x="5995" y="0"/>
                    <a:pt x="13390" y="0"/>
                  </a:cubicBezTo>
                  <a:close/>
                </a:path>
              </a:pathLst>
            </a:custGeom>
            <a:solidFill>
              <a:srgbClr val="64B349"/>
            </a:solidFill>
          </p:spPr>
        </p:sp>
        <p:sp>
          <p:nvSpPr>
            <p:cNvPr id="5" name="TextBox 5"/>
            <p:cNvSpPr txBox="1"/>
            <p:nvPr/>
          </p:nvSpPr>
          <p:spPr>
            <a:xfrm>
              <a:off x="0" y="-95250"/>
              <a:ext cx="3294104" cy="487166"/>
            </a:xfrm>
            <a:prstGeom prst="rect">
              <a:avLst/>
            </a:prstGeom>
          </p:spPr>
          <p:txBody>
            <a:bodyPr lIns="50800" tIns="50800" rIns="50800" bIns="50800" rtlCol="0" anchor="ctr"/>
            <a:lstStyle/>
            <a:p>
              <a:pPr algn="ctr">
                <a:lnSpc>
                  <a:spcPts val="3401"/>
                </a:lnSpc>
              </a:pPr>
              <a:endParaRPr/>
            </a:p>
          </p:txBody>
        </p:sp>
      </p:grpSp>
      <p:grpSp>
        <p:nvGrpSpPr>
          <p:cNvPr id="6" name="Group 6"/>
          <p:cNvGrpSpPr/>
          <p:nvPr/>
        </p:nvGrpSpPr>
        <p:grpSpPr>
          <a:xfrm>
            <a:off x="3554255" y="7627409"/>
            <a:ext cx="436086" cy="436086"/>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64B347"/>
            </a:solidFill>
          </p:spPr>
        </p:sp>
        <p:sp>
          <p:nvSpPr>
            <p:cNvPr id="8" name="TextBox 8"/>
            <p:cNvSpPr txBox="1"/>
            <p:nvPr/>
          </p:nvSpPr>
          <p:spPr>
            <a:xfrm>
              <a:off x="0" y="107950"/>
              <a:ext cx="711200" cy="501650"/>
            </a:xfrm>
            <a:prstGeom prst="rect">
              <a:avLst/>
            </a:prstGeom>
          </p:spPr>
          <p:txBody>
            <a:bodyPr lIns="50800" tIns="50800" rIns="50800" bIns="50800" rtlCol="0" anchor="ctr"/>
            <a:lstStyle/>
            <a:p>
              <a:pPr algn="ctr">
                <a:lnSpc>
                  <a:spcPts val="3401"/>
                </a:lnSpc>
              </a:pPr>
              <a:endParaRPr/>
            </a:p>
          </p:txBody>
        </p:sp>
      </p:grpSp>
      <p:sp>
        <p:nvSpPr>
          <p:cNvPr id="9" name="TextBox 9"/>
          <p:cNvSpPr txBox="1"/>
          <p:nvPr/>
        </p:nvSpPr>
        <p:spPr>
          <a:xfrm>
            <a:off x="553910" y="1400862"/>
            <a:ext cx="14674122" cy="530214"/>
          </a:xfrm>
          <a:prstGeom prst="rect">
            <a:avLst/>
          </a:prstGeom>
        </p:spPr>
        <p:txBody>
          <a:bodyPr lIns="0" tIns="0" rIns="0" bIns="0" rtlCol="0" anchor="t">
            <a:spAutoFit/>
          </a:bodyPr>
          <a:lstStyle/>
          <a:p>
            <a:pPr algn="l">
              <a:lnSpc>
                <a:spcPts val="4375"/>
              </a:lnSpc>
            </a:pPr>
            <a:r>
              <a:rPr lang="en-US" sz="3125">
                <a:solidFill>
                  <a:srgbClr val="000000"/>
                </a:solidFill>
                <a:latin typeface="DM Sans"/>
                <a:ea typeface="DM Sans"/>
                <a:cs typeface="DM Sans"/>
                <a:sym typeface="DM Sans"/>
              </a:rPr>
              <a:t>The Spike you see in the ScatterPlot is </a:t>
            </a:r>
            <a:r>
              <a:rPr lang="en-US" sz="3125" b="1">
                <a:solidFill>
                  <a:srgbClr val="000000"/>
                </a:solidFill>
                <a:latin typeface="DM Sans Bold"/>
                <a:ea typeface="DM Sans Bold"/>
                <a:cs typeface="DM Sans Bold"/>
                <a:sym typeface="DM Sans Bold"/>
              </a:rPr>
              <a:t>NOT</a:t>
            </a:r>
            <a:r>
              <a:rPr lang="en-US" sz="3125">
                <a:solidFill>
                  <a:srgbClr val="000000"/>
                </a:solidFill>
                <a:latin typeface="DM Sans"/>
                <a:ea typeface="DM Sans"/>
                <a:cs typeface="DM Sans"/>
                <a:sym typeface="DM Sans"/>
              </a:rPr>
              <a:t> normal.</a:t>
            </a:r>
          </a:p>
        </p:txBody>
      </p:sp>
      <p:sp>
        <p:nvSpPr>
          <p:cNvPr id="10" name="TextBox 10"/>
          <p:cNvSpPr txBox="1"/>
          <p:nvPr/>
        </p:nvSpPr>
        <p:spPr>
          <a:xfrm>
            <a:off x="553910" y="2272915"/>
            <a:ext cx="16230600" cy="1635114"/>
          </a:xfrm>
          <a:prstGeom prst="rect">
            <a:avLst/>
          </a:prstGeom>
        </p:spPr>
        <p:txBody>
          <a:bodyPr lIns="0" tIns="0" rIns="0" bIns="0" rtlCol="0" anchor="t">
            <a:spAutoFit/>
          </a:bodyPr>
          <a:lstStyle/>
          <a:p>
            <a:pPr algn="l">
              <a:lnSpc>
                <a:spcPts val="4375"/>
              </a:lnSpc>
            </a:pPr>
            <a:r>
              <a:rPr lang="en-US" sz="3125" b="1">
                <a:solidFill>
                  <a:srgbClr val="FFFFFF"/>
                </a:solidFill>
                <a:latin typeface="DM Sans Bold"/>
                <a:ea typeface="DM Sans Bold"/>
                <a:cs typeface="DM Sans Bold"/>
                <a:sym typeface="DM Sans Bold"/>
              </a:rPr>
              <a:t>IT IS THE STRONGEST VISUAL EVIDENCE SUPPORTING OUR </a:t>
            </a:r>
            <a:r>
              <a:rPr lang="en-US" sz="3125" b="1">
                <a:solidFill>
                  <a:srgbClr val="000000"/>
                </a:solidFill>
                <a:latin typeface="DM Sans Bold"/>
                <a:ea typeface="DM Sans Bold"/>
                <a:cs typeface="DM Sans Bold"/>
                <a:sym typeface="DM Sans Bold"/>
              </a:rPr>
              <a:t>MAIN HYPOTHESIS</a:t>
            </a:r>
            <a:r>
              <a:rPr lang="en-US" sz="3125" b="1">
                <a:solidFill>
                  <a:srgbClr val="FFFFFF"/>
                </a:solidFill>
                <a:latin typeface="DM Sans Bold"/>
                <a:ea typeface="DM Sans Bold"/>
                <a:cs typeface="DM Sans Bold"/>
                <a:sym typeface="DM Sans Bold"/>
              </a:rPr>
              <a:t> </a:t>
            </a:r>
          </a:p>
          <a:p>
            <a:pPr algn="l">
              <a:lnSpc>
                <a:spcPts val="4375"/>
              </a:lnSpc>
            </a:pPr>
            <a:r>
              <a:rPr lang="en-US" sz="3125" b="1">
                <a:solidFill>
                  <a:srgbClr val="FFFFFF"/>
                </a:solidFill>
                <a:latin typeface="DM Sans Bold"/>
                <a:ea typeface="DM Sans Bold"/>
                <a:cs typeface="DM Sans Bold"/>
                <a:sym typeface="DM Sans Bold"/>
              </a:rPr>
              <a:t>“STUDENTS WHO PERFORM POORLY IN UTME OFTEN PERFORM UNUSUALLY HIGH IN PUTME.”</a:t>
            </a:r>
          </a:p>
        </p:txBody>
      </p:sp>
      <p:sp>
        <p:nvSpPr>
          <p:cNvPr id="11" name="TextBox 11"/>
          <p:cNvSpPr txBox="1"/>
          <p:nvPr/>
        </p:nvSpPr>
        <p:spPr>
          <a:xfrm>
            <a:off x="487235" y="4173668"/>
            <a:ext cx="16705390" cy="2499476"/>
          </a:xfrm>
          <a:prstGeom prst="rect">
            <a:avLst/>
          </a:prstGeom>
        </p:spPr>
        <p:txBody>
          <a:bodyPr lIns="0" tIns="0" rIns="0" bIns="0" rtlCol="0" anchor="t">
            <a:spAutoFit/>
          </a:bodyPr>
          <a:lstStyle/>
          <a:p>
            <a:pPr algn="just">
              <a:lnSpc>
                <a:spcPts val="3983"/>
              </a:lnSpc>
            </a:pPr>
            <a:r>
              <a:rPr lang="en-US" sz="2845" b="1" spc="-145">
                <a:solidFill>
                  <a:srgbClr val="000000"/>
                </a:solidFill>
                <a:latin typeface="DM Sans Bold"/>
                <a:ea typeface="DM Sans Bold"/>
                <a:cs typeface="DM Sans Bold"/>
                <a:sym typeface="DM Sans Bold"/>
              </a:rPr>
              <a:t>Low-Performing UTME Students Suddenly Become Top Scorers in PUTME. These patterns are not random; it's a repeated trend. The spike is too frequent to be normal academic improvement. In a real exam system, this shouldn’t happen so consistently. Normally, if you're weak in UTME (hard and supervised), you should also struggle in PUTME (same CBT style). But in our case, the analysis and scatter plot prove the opposite: students who struggle in UTME do very well in the PUTME exam.</a:t>
            </a:r>
          </a:p>
        </p:txBody>
      </p:sp>
      <p:grpSp>
        <p:nvGrpSpPr>
          <p:cNvPr id="12" name="Group 12"/>
          <p:cNvGrpSpPr/>
          <p:nvPr/>
        </p:nvGrpSpPr>
        <p:grpSpPr>
          <a:xfrm>
            <a:off x="456053" y="7200675"/>
            <a:ext cx="2986127" cy="1370019"/>
            <a:chOff x="0" y="0"/>
            <a:chExt cx="3981503" cy="1826692"/>
          </a:xfrm>
        </p:grpSpPr>
        <p:grpSp>
          <p:nvGrpSpPr>
            <p:cNvPr id="13" name="Group 13"/>
            <p:cNvGrpSpPr/>
            <p:nvPr/>
          </p:nvGrpSpPr>
          <p:grpSpPr>
            <a:xfrm>
              <a:off x="0" y="0"/>
              <a:ext cx="3981503" cy="1826692"/>
              <a:chOff x="0" y="0"/>
              <a:chExt cx="526952" cy="241763"/>
            </a:xfrm>
          </p:grpSpPr>
          <p:sp>
            <p:nvSpPr>
              <p:cNvPr id="14" name="Freeform 14"/>
              <p:cNvSpPr/>
              <p:nvPr/>
            </p:nvSpPr>
            <p:spPr>
              <a:xfrm>
                <a:off x="0" y="0"/>
                <a:ext cx="526952" cy="241763"/>
              </a:xfrm>
              <a:custGeom>
                <a:avLst/>
                <a:gdLst/>
                <a:ahLst/>
                <a:cxnLst/>
                <a:rect l="l" t="t" r="r" b="b"/>
                <a:pathLst>
                  <a:path w="526952" h="241763">
                    <a:moveTo>
                      <a:pt x="83702" y="0"/>
                    </a:moveTo>
                    <a:lnTo>
                      <a:pt x="443250" y="0"/>
                    </a:lnTo>
                    <a:cubicBezTo>
                      <a:pt x="465449" y="0"/>
                      <a:pt x="486739" y="8819"/>
                      <a:pt x="502436" y="24516"/>
                    </a:cubicBezTo>
                    <a:cubicBezTo>
                      <a:pt x="518133" y="40213"/>
                      <a:pt x="526952" y="61503"/>
                      <a:pt x="526952" y="83702"/>
                    </a:cubicBezTo>
                    <a:lnTo>
                      <a:pt x="526952" y="158060"/>
                    </a:lnTo>
                    <a:cubicBezTo>
                      <a:pt x="526952" y="180260"/>
                      <a:pt x="518133" y="201550"/>
                      <a:pt x="502436" y="217247"/>
                    </a:cubicBezTo>
                    <a:cubicBezTo>
                      <a:pt x="486739" y="232944"/>
                      <a:pt x="465449" y="241763"/>
                      <a:pt x="443250" y="241763"/>
                    </a:cubicBezTo>
                    <a:lnTo>
                      <a:pt x="83702" y="241763"/>
                    </a:lnTo>
                    <a:cubicBezTo>
                      <a:pt x="61503" y="241763"/>
                      <a:pt x="40213" y="232944"/>
                      <a:pt x="24516" y="217247"/>
                    </a:cubicBezTo>
                    <a:cubicBezTo>
                      <a:pt x="8819" y="201550"/>
                      <a:pt x="0" y="180260"/>
                      <a:pt x="0" y="158060"/>
                    </a:cubicBezTo>
                    <a:lnTo>
                      <a:pt x="0" y="83702"/>
                    </a:lnTo>
                    <a:cubicBezTo>
                      <a:pt x="0" y="61503"/>
                      <a:pt x="8819" y="40213"/>
                      <a:pt x="24516" y="24516"/>
                    </a:cubicBezTo>
                    <a:cubicBezTo>
                      <a:pt x="40213" y="8819"/>
                      <a:pt x="61503" y="0"/>
                      <a:pt x="83702" y="0"/>
                    </a:cubicBezTo>
                    <a:close/>
                  </a:path>
                </a:pathLst>
              </a:custGeom>
              <a:solidFill>
                <a:srgbClr val="64B347"/>
              </a:solidFill>
            </p:spPr>
          </p:sp>
          <p:sp>
            <p:nvSpPr>
              <p:cNvPr id="15" name="TextBox 15"/>
              <p:cNvSpPr txBox="1"/>
              <p:nvPr/>
            </p:nvSpPr>
            <p:spPr>
              <a:xfrm>
                <a:off x="0" y="-95250"/>
                <a:ext cx="526952" cy="337013"/>
              </a:xfrm>
              <a:prstGeom prst="rect">
                <a:avLst/>
              </a:prstGeom>
            </p:spPr>
            <p:txBody>
              <a:bodyPr lIns="50800" tIns="50800" rIns="50800" bIns="50800" rtlCol="0" anchor="ctr"/>
              <a:lstStyle/>
              <a:p>
                <a:pPr algn="ctr">
                  <a:lnSpc>
                    <a:spcPts val="3401"/>
                  </a:lnSpc>
                </a:pPr>
                <a:endParaRPr/>
              </a:p>
            </p:txBody>
          </p:sp>
        </p:grpSp>
        <p:sp>
          <p:nvSpPr>
            <p:cNvPr id="16" name="TextBox 16"/>
            <p:cNvSpPr txBox="1"/>
            <p:nvPr/>
          </p:nvSpPr>
          <p:spPr>
            <a:xfrm>
              <a:off x="609391" y="339656"/>
              <a:ext cx="3372112" cy="1052130"/>
            </a:xfrm>
            <a:prstGeom prst="rect">
              <a:avLst/>
            </a:prstGeom>
          </p:spPr>
          <p:txBody>
            <a:bodyPr lIns="0" tIns="0" rIns="0" bIns="0" rtlCol="0" anchor="t">
              <a:spAutoFit/>
            </a:bodyPr>
            <a:lstStyle/>
            <a:p>
              <a:pPr algn="l">
                <a:lnSpc>
                  <a:spcPts val="6616"/>
                </a:lnSpc>
              </a:pPr>
              <a:r>
                <a:rPr lang="en-US" sz="4726" b="1" spc="420">
                  <a:solidFill>
                    <a:srgbClr val="FFFFFF"/>
                  </a:solidFill>
                  <a:latin typeface="DM Sans Bold"/>
                  <a:ea typeface="DM Sans Bold"/>
                  <a:cs typeface="DM Sans Bold"/>
                  <a:sym typeface="DM Sans Bold"/>
                </a:rPr>
                <a:t>WHY ?</a:t>
              </a:r>
            </a:p>
          </p:txBody>
        </p:sp>
      </p:grpSp>
      <p:sp>
        <p:nvSpPr>
          <p:cNvPr id="17" name="TextBox 17"/>
          <p:cNvSpPr txBox="1"/>
          <p:nvPr/>
        </p:nvSpPr>
        <p:spPr>
          <a:xfrm>
            <a:off x="4102414" y="7044620"/>
            <a:ext cx="13059029" cy="1515022"/>
          </a:xfrm>
          <a:prstGeom prst="rect">
            <a:avLst/>
          </a:prstGeom>
        </p:spPr>
        <p:txBody>
          <a:bodyPr lIns="0" tIns="0" rIns="0" bIns="0" rtlCol="0" anchor="t">
            <a:spAutoFit/>
          </a:bodyPr>
          <a:lstStyle/>
          <a:p>
            <a:pPr algn="just">
              <a:lnSpc>
                <a:spcPts val="4004"/>
              </a:lnSpc>
            </a:pPr>
            <a:r>
              <a:rPr lang="en-US" sz="3152" b="1" spc="-230">
                <a:solidFill>
                  <a:srgbClr val="000000"/>
                </a:solidFill>
                <a:latin typeface="DM Sans Bold"/>
                <a:ea typeface="DM Sans Bold"/>
                <a:cs typeface="DM Sans Bold"/>
                <a:sym typeface="DM Sans Bold"/>
              </a:rPr>
              <a:t>A logical explanation for the pattern is the absence of supervision during the Post-UTME exam, which creates opportunities for students to inflate their scores through dishonest means.</a:t>
            </a:r>
          </a:p>
        </p:txBody>
      </p:sp>
      <p:grpSp>
        <p:nvGrpSpPr>
          <p:cNvPr id="20" name="Group 20"/>
          <p:cNvGrpSpPr/>
          <p:nvPr/>
        </p:nvGrpSpPr>
        <p:grpSpPr>
          <a:xfrm>
            <a:off x="251558" y="6912777"/>
            <a:ext cx="805361" cy="78909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2" name="TextBox 22"/>
            <p:cNvSpPr txBox="1"/>
            <p:nvPr/>
          </p:nvSpPr>
          <p:spPr>
            <a:xfrm>
              <a:off x="76200" y="-19050"/>
              <a:ext cx="660400" cy="755650"/>
            </a:xfrm>
            <a:prstGeom prst="rect">
              <a:avLst/>
            </a:prstGeom>
          </p:spPr>
          <p:txBody>
            <a:bodyPr lIns="32547" tIns="32547" rIns="32547" bIns="32547" rtlCol="0" anchor="ctr"/>
            <a:lstStyle/>
            <a:p>
              <a:pPr algn="ctr">
                <a:lnSpc>
                  <a:spcPts val="3401"/>
                </a:lnSpc>
              </a:pPr>
              <a:endParaRPr/>
            </a:p>
          </p:txBody>
        </p:sp>
      </p:grpSp>
      <p:sp>
        <p:nvSpPr>
          <p:cNvPr id="23" name="TextBox 23"/>
          <p:cNvSpPr txBox="1"/>
          <p:nvPr/>
        </p:nvSpPr>
        <p:spPr>
          <a:xfrm>
            <a:off x="487235" y="8855824"/>
            <a:ext cx="4696133" cy="660218"/>
          </a:xfrm>
          <a:prstGeom prst="rect">
            <a:avLst/>
          </a:prstGeom>
        </p:spPr>
        <p:txBody>
          <a:bodyPr lIns="0" tIns="0" rIns="0" bIns="0" rtlCol="0" anchor="t">
            <a:spAutoFit/>
          </a:bodyPr>
          <a:lstStyle/>
          <a:p>
            <a:pPr algn="just">
              <a:lnSpc>
                <a:spcPts val="5273"/>
              </a:lnSpc>
            </a:pPr>
            <a:r>
              <a:rPr lang="en-US" sz="4152" b="1" i="1" spc="-303">
                <a:solidFill>
                  <a:srgbClr val="FF6937"/>
                </a:solidFill>
                <a:latin typeface="DM Sans Bold Italics"/>
                <a:ea typeface="DM Sans Bold Italics"/>
                <a:cs typeface="DM Sans Bold Italics"/>
                <a:sym typeface="DM Sans Bold Italics"/>
              </a:rPr>
              <a:t>Other  Explaination</a:t>
            </a:r>
          </a:p>
        </p:txBody>
      </p:sp>
      <p:grpSp>
        <p:nvGrpSpPr>
          <p:cNvPr id="24" name="Group 24"/>
          <p:cNvGrpSpPr/>
          <p:nvPr/>
        </p:nvGrpSpPr>
        <p:grpSpPr>
          <a:xfrm>
            <a:off x="4965325" y="9040257"/>
            <a:ext cx="436086" cy="436086"/>
            <a:chOff x="0" y="0"/>
            <a:chExt cx="812800" cy="812800"/>
          </a:xfrm>
        </p:grpSpPr>
        <p:sp>
          <p:nvSpPr>
            <p:cNvPr id="25" name="Freeform 2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64B347"/>
            </a:solidFill>
          </p:spPr>
        </p:sp>
        <p:sp>
          <p:nvSpPr>
            <p:cNvPr id="26" name="TextBox 26"/>
            <p:cNvSpPr txBox="1"/>
            <p:nvPr/>
          </p:nvSpPr>
          <p:spPr>
            <a:xfrm>
              <a:off x="0" y="107950"/>
              <a:ext cx="711200" cy="501650"/>
            </a:xfrm>
            <a:prstGeom prst="rect">
              <a:avLst/>
            </a:prstGeom>
          </p:spPr>
          <p:txBody>
            <a:bodyPr lIns="50800" tIns="50800" rIns="50800" bIns="50800" rtlCol="0" anchor="ctr"/>
            <a:lstStyle/>
            <a:p>
              <a:pPr algn="ctr">
                <a:lnSpc>
                  <a:spcPts val="3401"/>
                </a:lnSpc>
              </a:pPr>
              <a:endParaRPr/>
            </a:p>
          </p:txBody>
        </p:sp>
      </p:grpSp>
      <p:sp>
        <p:nvSpPr>
          <p:cNvPr id="27" name="TextBox 27"/>
          <p:cNvSpPr txBox="1"/>
          <p:nvPr/>
        </p:nvSpPr>
        <p:spPr>
          <a:xfrm>
            <a:off x="5636462" y="9045810"/>
            <a:ext cx="3974708"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Different exam difficulty</a:t>
            </a:r>
          </a:p>
        </p:txBody>
      </p:sp>
      <p:sp>
        <p:nvSpPr>
          <p:cNvPr id="28" name="TextBox 28"/>
          <p:cNvSpPr txBox="1"/>
          <p:nvPr/>
        </p:nvSpPr>
        <p:spPr>
          <a:xfrm>
            <a:off x="9552334" y="9045810"/>
            <a:ext cx="3373307"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Content mismatch</a:t>
            </a:r>
          </a:p>
        </p:txBody>
      </p:sp>
      <p:sp>
        <p:nvSpPr>
          <p:cNvPr id="29" name="TextBox 29"/>
          <p:cNvSpPr txBox="1"/>
          <p:nvPr/>
        </p:nvSpPr>
        <p:spPr>
          <a:xfrm>
            <a:off x="12925641" y="9045810"/>
            <a:ext cx="4235802" cy="405931"/>
          </a:xfrm>
          <a:prstGeom prst="rect">
            <a:avLst/>
          </a:prstGeom>
        </p:spPr>
        <p:txBody>
          <a:bodyPr lIns="0" tIns="0" rIns="0" bIns="0" rtlCol="0" anchor="t">
            <a:spAutoFit/>
          </a:bodyPr>
          <a:lstStyle/>
          <a:p>
            <a:pPr marL="551147" lvl="1" indent="-275574" algn="just">
              <a:lnSpc>
                <a:spcPts val="3242"/>
              </a:lnSpc>
              <a:buFont typeface="Arial"/>
              <a:buChar char="•"/>
            </a:pPr>
            <a:r>
              <a:rPr lang="en-US" sz="2552" b="1" spc="-186">
                <a:solidFill>
                  <a:srgbClr val="000000"/>
                </a:solidFill>
                <a:latin typeface="DM Sans Bold"/>
                <a:ea typeface="DM Sans Bold"/>
                <a:cs typeface="DM Sans Bold"/>
                <a:sym typeface="DM Sans Bold"/>
              </a:rPr>
              <a:t>Invalid test environment</a:t>
            </a:r>
          </a:p>
        </p:txBody>
      </p:sp>
      <p:grpSp>
        <p:nvGrpSpPr>
          <p:cNvPr id="30" name="Group 30"/>
          <p:cNvGrpSpPr/>
          <p:nvPr/>
        </p:nvGrpSpPr>
        <p:grpSpPr>
          <a:xfrm>
            <a:off x="9823846" y="212725"/>
            <a:ext cx="3477281" cy="571500"/>
            <a:chOff x="0" y="0"/>
            <a:chExt cx="4636374" cy="762000"/>
          </a:xfrm>
        </p:grpSpPr>
        <p:grpSp>
          <p:nvGrpSpPr>
            <p:cNvPr id="31" name="Group 31"/>
            <p:cNvGrpSpPr/>
            <p:nvPr/>
          </p:nvGrpSpPr>
          <p:grpSpPr>
            <a:xfrm rot="-10800000">
              <a:off x="0" y="0"/>
              <a:ext cx="4418262" cy="762000"/>
              <a:chOff x="0" y="0"/>
              <a:chExt cx="1710217" cy="294994"/>
            </a:xfrm>
          </p:grpSpPr>
          <p:sp>
            <p:nvSpPr>
              <p:cNvPr id="32" name="Freeform 32"/>
              <p:cNvSpPr/>
              <p:nvPr/>
            </p:nvSpPr>
            <p:spPr>
              <a:xfrm>
                <a:off x="0" y="0"/>
                <a:ext cx="1710217" cy="294994"/>
              </a:xfrm>
              <a:custGeom>
                <a:avLst/>
                <a:gdLst/>
                <a:ahLst/>
                <a:cxnLst/>
                <a:rect l="l" t="t" r="r" b="b"/>
                <a:pathLst>
                  <a:path w="1710217" h="294994">
                    <a:moveTo>
                      <a:pt x="1710217" y="14543"/>
                    </a:moveTo>
                    <a:lnTo>
                      <a:pt x="1710217" y="280451"/>
                    </a:lnTo>
                    <a:cubicBezTo>
                      <a:pt x="1710217" y="284308"/>
                      <a:pt x="1708685" y="288007"/>
                      <a:pt x="1705957" y="290734"/>
                    </a:cubicBezTo>
                    <a:cubicBezTo>
                      <a:pt x="1703230" y="293462"/>
                      <a:pt x="1699531" y="294994"/>
                      <a:pt x="1695674" y="294994"/>
                    </a:cubicBezTo>
                    <a:lnTo>
                      <a:pt x="14543" y="294994"/>
                    </a:lnTo>
                    <a:cubicBezTo>
                      <a:pt x="10686" y="294994"/>
                      <a:pt x="6987" y="293462"/>
                      <a:pt x="4259" y="290734"/>
                    </a:cubicBezTo>
                    <a:cubicBezTo>
                      <a:pt x="1532" y="288007"/>
                      <a:pt x="0" y="284308"/>
                      <a:pt x="0" y="280451"/>
                    </a:cubicBezTo>
                    <a:lnTo>
                      <a:pt x="0" y="14543"/>
                    </a:lnTo>
                    <a:cubicBezTo>
                      <a:pt x="0" y="10686"/>
                      <a:pt x="1532" y="6987"/>
                      <a:pt x="4259" y="4259"/>
                    </a:cubicBezTo>
                    <a:cubicBezTo>
                      <a:pt x="6987" y="1532"/>
                      <a:pt x="10686" y="0"/>
                      <a:pt x="14543" y="0"/>
                    </a:cubicBezTo>
                    <a:lnTo>
                      <a:pt x="1695674" y="0"/>
                    </a:lnTo>
                    <a:cubicBezTo>
                      <a:pt x="1699531" y="0"/>
                      <a:pt x="1703230" y="1532"/>
                      <a:pt x="1705957" y="4259"/>
                    </a:cubicBezTo>
                    <a:cubicBezTo>
                      <a:pt x="1708685" y="6987"/>
                      <a:pt x="1710217" y="10686"/>
                      <a:pt x="1710217" y="14543"/>
                    </a:cubicBezTo>
                    <a:close/>
                  </a:path>
                </a:pathLst>
              </a:custGeom>
              <a:solidFill>
                <a:srgbClr val="FFFFFF"/>
              </a:solidFill>
              <a:ln w="19050" cap="sq">
                <a:solidFill>
                  <a:srgbClr val="64B349"/>
                </a:solidFill>
                <a:prstDash val="solid"/>
                <a:miter/>
              </a:ln>
            </p:spPr>
          </p:sp>
          <p:sp>
            <p:nvSpPr>
              <p:cNvPr id="33" name="TextBox 33"/>
              <p:cNvSpPr txBox="1"/>
              <p:nvPr/>
            </p:nvSpPr>
            <p:spPr>
              <a:xfrm>
                <a:off x="0" y="-57150"/>
                <a:ext cx="1710217" cy="352144"/>
              </a:xfrm>
              <a:prstGeom prst="rect">
                <a:avLst/>
              </a:prstGeom>
            </p:spPr>
            <p:txBody>
              <a:bodyPr lIns="50800" tIns="50800" rIns="50800" bIns="50800" rtlCol="0" anchor="ctr"/>
              <a:lstStyle/>
              <a:p>
                <a:pPr algn="ctr">
                  <a:lnSpc>
                    <a:spcPts val="1944"/>
                  </a:lnSpc>
                </a:pPr>
                <a:endParaRPr/>
              </a:p>
            </p:txBody>
          </p:sp>
        </p:grpSp>
        <p:sp>
          <p:nvSpPr>
            <p:cNvPr id="34" name="TextBox 34"/>
            <p:cNvSpPr txBox="1"/>
            <p:nvPr/>
          </p:nvSpPr>
          <p:spPr>
            <a:xfrm>
              <a:off x="151966" y="198249"/>
              <a:ext cx="4484409" cy="358463"/>
            </a:xfrm>
            <a:prstGeom prst="rect">
              <a:avLst/>
            </a:prstGeom>
          </p:spPr>
          <p:txBody>
            <a:bodyPr lIns="0" tIns="0" rIns="0" bIns="0" rtlCol="0" anchor="t">
              <a:spAutoFit/>
            </a:bodyPr>
            <a:lstStyle/>
            <a:p>
              <a:pPr algn="l">
                <a:lnSpc>
                  <a:spcPts val="2084"/>
                </a:lnSpc>
              </a:pPr>
              <a:r>
                <a:rPr lang="en-US" sz="1929" b="1">
                  <a:solidFill>
                    <a:srgbClr val="000000"/>
                  </a:solidFill>
                  <a:latin typeface="DM Sans Bold"/>
                  <a:ea typeface="DM Sans Bold"/>
                  <a:cs typeface="DM Sans Bold"/>
                  <a:sym typeface="DM Sans Bold"/>
                </a:rPr>
                <a:t>ELECTRICAL ENGINERRING </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6419252" y="180811"/>
            <a:ext cx="4691796" cy="1079406"/>
            <a:chOff x="0" y="0"/>
            <a:chExt cx="1268059" cy="291772"/>
          </a:xfrm>
        </p:grpSpPr>
        <p:sp>
          <p:nvSpPr>
            <p:cNvPr id="3" name="Freeform 3"/>
            <p:cNvSpPr/>
            <p:nvPr/>
          </p:nvSpPr>
          <p:spPr>
            <a:xfrm>
              <a:off x="0" y="0"/>
              <a:ext cx="1268059" cy="291772"/>
            </a:xfrm>
            <a:custGeom>
              <a:avLst/>
              <a:gdLst/>
              <a:ahLst/>
              <a:cxnLst/>
              <a:rect l="l" t="t" r="r" b="b"/>
              <a:pathLst>
                <a:path w="1268059" h="291772">
                  <a:moveTo>
                    <a:pt x="1268059" y="16501"/>
                  </a:moveTo>
                  <a:lnTo>
                    <a:pt x="1268059" y="275271"/>
                  </a:lnTo>
                  <a:cubicBezTo>
                    <a:pt x="1268059" y="284384"/>
                    <a:pt x="1260672" y="291772"/>
                    <a:pt x="1251558" y="291772"/>
                  </a:cubicBezTo>
                  <a:lnTo>
                    <a:pt x="16501" y="291772"/>
                  </a:lnTo>
                  <a:cubicBezTo>
                    <a:pt x="7388" y="291772"/>
                    <a:pt x="0" y="284384"/>
                    <a:pt x="0" y="275271"/>
                  </a:cubicBezTo>
                  <a:lnTo>
                    <a:pt x="0" y="16501"/>
                  </a:lnTo>
                  <a:cubicBezTo>
                    <a:pt x="0" y="7388"/>
                    <a:pt x="7388" y="0"/>
                    <a:pt x="16501" y="0"/>
                  </a:cubicBezTo>
                  <a:lnTo>
                    <a:pt x="1251558" y="0"/>
                  </a:lnTo>
                  <a:cubicBezTo>
                    <a:pt x="1255935" y="0"/>
                    <a:pt x="1260132" y="1738"/>
                    <a:pt x="1263226" y="4833"/>
                  </a:cubicBezTo>
                  <a:cubicBezTo>
                    <a:pt x="1266321" y="7928"/>
                    <a:pt x="1268059" y="12125"/>
                    <a:pt x="1268059" y="16501"/>
                  </a:cubicBezTo>
                  <a:close/>
                </a:path>
              </a:pathLst>
            </a:custGeom>
            <a:solidFill>
              <a:srgbClr val="FFFFFF"/>
            </a:solidFill>
            <a:ln w="19050" cap="sq">
              <a:solidFill>
                <a:srgbClr val="64B349"/>
              </a:solidFill>
              <a:prstDash val="solid"/>
              <a:miter/>
            </a:ln>
          </p:spPr>
        </p:sp>
        <p:sp>
          <p:nvSpPr>
            <p:cNvPr id="4" name="TextBox 4"/>
            <p:cNvSpPr txBox="1"/>
            <p:nvPr/>
          </p:nvSpPr>
          <p:spPr>
            <a:xfrm>
              <a:off x="0" y="-57150"/>
              <a:ext cx="1268059" cy="348922"/>
            </a:xfrm>
            <a:prstGeom prst="rect">
              <a:avLst/>
            </a:prstGeom>
          </p:spPr>
          <p:txBody>
            <a:bodyPr lIns="33171" tIns="33171" rIns="33171" bIns="33171" rtlCol="0" anchor="ctr"/>
            <a:lstStyle/>
            <a:p>
              <a:pPr algn="ctr">
                <a:lnSpc>
                  <a:spcPts val="1944"/>
                </a:lnSpc>
              </a:pPr>
              <a:endParaRPr/>
            </a:p>
          </p:txBody>
        </p:sp>
      </p:grpSp>
      <p:sp>
        <p:nvSpPr>
          <p:cNvPr id="5" name="TextBox 5"/>
          <p:cNvSpPr txBox="1"/>
          <p:nvPr/>
        </p:nvSpPr>
        <p:spPr>
          <a:xfrm>
            <a:off x="6673904" y="516603"/>
            <a:ext cx="5639946" cy="333047"/>
          </a:xfrm>
          <a:prstGeom prst="rect">
            <a:avLst/>
          </a:prstGeom>
        </p:spPr>
        <p:txBody>
          <a:bodyPr lIns="0" tIns="0" rIns="0" bIns="0" rtlCol="0" anchor="t">
            <a:spAutoFit/>
          </a:bodyPr>
          <a:lstStyle/>
          <a:p>
            <a:pPr algn="l">
              <a:lnSpc>
                <a:spcPts val="2596"/>
              </a:lnSpc>
            </a:pPr>
            <a:r>
              <a:rPr lang="en-US" sz="2403" b="1">
                <a:solidFill>
                  <a:srgbClr val="000000"/>
                </a:solidFill>
                <a:latin typeface="DM Sans Bold"/>
                <a:ea typeface="DM Sans Bold"/>
                <a:cs typeface="DM Sans Bold"/>
                <a:sym typeface="DM Sans Bold"/>
              </a:rPr>
              <a:t>ELECTRICAL SCATTER PLOT </a:t>
            </a:r>
          </a:p>
        </p:txBody>
      </p:sp>
      <p:sp>
        <p:nvSpPr>
          <p:cNvPr id="8" name="Freeform 8"/>
          <p:cNvSpPr/>
          <p:nvPr/>
        </p:nvSpPr>
        <p:spPr>
          <a:xfrm>
            <a:off x="736563" y="1587370"/>
            <a:ext cx="17046511" cy="7670930"/>
          </a:xfrm>
          <a:custGeom>
            <a:avLst/>
            <a:gdLst/>
            <a:ahLst/>
            <a:cxnLst/>
            <a:rect l="l" t="t" r="r" b="b"/>
            <a:pathLst>
              <a:path w="17046511" h="7670930">
                <a:moveTo>
                  <a:pt x="0" y="0"/>
                </a:moveTo>
                <a:lnTo>
                  <a:pt x="17046511" y="0"/>
                </a:lnTo>
                <a:lnTo>
                  <a:pt x="17046511" y="7670930"/>
                </a:lnTo>
                <a:lnTo>
                  <a:pt x="0" y="7670930"/>
                </a:lnTo>
                <a:lnTo>
                  <a:pt x="0" y="0"/>
                </a:lnTo>
                <a:close/>
              </a:path>
            </a:pathLst>
          </a:custGeom>
          <a:blipFill>
            <a:blip r:embed="rId2"/>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1" name="Group 11"/>
          <p:cNvGrpSpPr/>
          <p:nvPr/>
        </p:nvGrpSpPr>
        <p:grpSpPr>
          <a:xfrm>
            <a:off x="12027087" y="1028700"/>
            <a:ext cx="6260913" cy="8656945"/>
            <a:chOff x="0" y="0"/>
            <a:chExt cx="587837" cy="812800"/>
          </a:xfrm>
        </p:grpSpPr>
        <p:sp>
          <p:nvSpPr>
            <p:cNvPr id="12" name="Freeform 12"/>
            <p:cNvSpPr/>
            <p:nvPr/>
          </p:nvSpPr>
          <p:spPr>
            <a:xfrm>
              <a:off x="0" y="0"/>
              <a:ext cx="587837" cy="812800"/>
            </a:xfrm>
            <a:custGeom>
              <a:avLst/>
              <a:gdLst/>
              <a:ahLst/>
              <a:cxnLst/>
              <a:rect l="l" t="t" r="r" b="b"/>
              <a:pathLst>
                <a:path w="587837" h="812800">
                  <a:moveTo>
                    <a:pt x="293918" y="0"/>
                  </a:moveTo>
                  <a:cubicBezTo>
                    <a:pt x="131592" y="0"/>
                    <a:pt x="0" y="181951"/>
                    <a:pt x="0" y="406400"/>
                  </a:cubicBezTo>
                  <a:cubicBezTo>
                    <a:pt x="0" y="630849"/>
                    <a:pt x="131592" y="812800"/>
                    <a:pt x="293918" y="812800"/>
                  </a:cubicBezTo>
                  <a:cubicBezTo>
                    <a:pt x="456245" y="812800"/>
                    <a:pt x="587837" y="630849"/>
                    <a:pt x="587837" y="406400"/>
                  </a:cubicBezTo>
                  <a:cubicBezTo>
                    <a:pt x="587837" y="181951"/>
                    <a:pt x="456245" y="0"/>
                    <a:pt x="293918" y="0"/>
                  </a:cubicBezTo>
                  <a:close/>
                </a:path>
              </a:pathLst>
            </a:custGeom>
            <a:blipFill>
              <a:blip r:embed="rId2"/>
              <a:stretch>
                <a:fillRect l="-33006" r="-33006"/>
              </a:stretch>
            </a:blipFill>
          </p:spPr>
        </p:sp>
      </p:grpSp>
      <p:sp>
        <p:nvSpPr>
          <p:cNvPr id="13" name="TextBox 13"/>
          <p:cNvSpPr txBox="1"/>
          <p:nvPr/>
        </p:nvSpPr>
        <p:spPr>
          <a:xfrm>
            <a:off x="1028700" y="813060"/>
            <a:ext cx="7315347" cy="1431798"/>
          </a:xfrm>
          <a:prstGeom prst="rect">
            <a:avLst/>
          </a:prstGeom>
        </p:spPr>
        <p:txBody>
          <a:bodyPr lIns="0" tIns="0" rIns="0" bIns="0" rtlCol="0" anchor="t">
            <a:spAutoFit/>
          </a:bodyPr>
          <a:lstStyle/>
          <a:p>
            <a:pPr algn="l">
              <a:lnSpc>
                <a:spcPts val="5615"/>
              </a:lnSpc>
            </a:pPr>
            <a:r>
              <a:rPr lang="en-US" sz="5199" b="1">
                <a:solidFill>
                  <a:srgbClr val="000000"/>
                </a:solidFill>
                <a:latin typeface="DM Sans Bold"/>
                <a:ea typeface="DM Sans Bold"/>
                <a:cs typeface="DM Sans Bold"/>
                <a:sym typeface="DM Sans Bold"/>
              </a:rPr>
              <a:t>Statistical Interpretation</a:t>
            </a:r>
          </a:p>
        </p:txBody>
      </p:sp>
      <p:sp>
        <p:nvSpPr>
          <p:cNvPr id="14" name="TextBox 14"/>
          <p:cNvSpPr txBox="1"/>
          <p:nvPr/>
        </p:nvSpPr>
        <p:spPr>
          <a:xfrm>
            <a:off x="550020" y="2442838"/>
            <a:ext cx="11251609" cy="5366503"/>
          </a:xfrm>
          <a:prstGeom prst="rect">
            <a:avLst/>
          </a:prstGeom>
        </p:spPr>
        <p:txBody>
          <a:bodyPr lIns="0" tIns="0" rIns="0" bIns="0" rtlCol="0" anchor="t">
            <a:spAutoFit/>
          </a:bodyPr>
          <a:lstStyle/>
          <a:p>
            <a:pPr marL="938161" lvl="1" indent="-469081" algn="just">
              <a:lnSpc>
                <a:spcPts val="6083"/>
              </a:lnSpc>
              <a:buFont typeface="Arial"/>
              <a:buChar char="•"/>
            </a:pPr>
            <a:r>
              <a:rPr lang="en-US" sz="4345">
                <a:solidFill>
                  <a:srgbClr val="000000"/>
                </a:solidFill>
                <a:latin typeface="DM Sans"/>
                <a:ea typeface="DM Sans"/>
                <a:cs typeface="DM Sans"/>
                <a:sym typeface="DM Sans"/>
              </a:rPr>
              <a:t>POST‑UTME is not a reliable academic measure.</a:t>
            </a:r>
          </a:p>
          <a:p>
            <a:pPr marL="938161" lvl="1" indent="-469081" algn="just">
              <a:lnSpc>
                <a:spcPts val="6083"/>
              </a:lnSpc>
              <a:buFont typeface="Arial"/>
              <a:buChar char="•"/>
            </a:pPr>
            <a:r>
              <a:rPr lang="en-US" sz="4345">
                <a:solidFill>
                  <a:srgbClr val="000000"/>
                </a:solidFill>
                <a:latin typeface="DM Sans"/>
                <a:ea typeface="DM Sans"/>
                <a:cs typeface="DM Sans"/>
                <a:sym typeface="DM Sans"/>
              </a:rPr>
              <a:t> UTME is more consistent and stable.</a:t>
            </a:r>
          </a:p>
          <a:p>
            <a:pPr marL="938161" lvl="1" indent="-469081" algn="just">
              <a:lnSpc>
                <a:spcPts val="6083"/>
              </a:lnSpc>
              <a:buFont typeface="Arial"/>
              <a:buChar char="•"/>
            </a:pPr>
            <a:r>
              <a:rPr lang="en-US" sz="4345">
                <a:solidFill>
                  <a:srgbClr val="000000"/>
                </a:solidFill>
                <a:latin typeface="DM Sans"/>
                <a:ea typeface="DM Sans"/>
                <a:cs typeface="DM Sans"/>
                <a:sym typeface="DM Sans"/>
              </a:rPr>
              <a:t>POST‑UTME likely inflated due to weak supervision.</a:t>
            </a:r>
          </a:p>
          <a:p>
            <a:pPr marL="938161" lvl="1" indent="-469081" algn="just">
              <a:lnSpc>
                <a:spcPts val="6083"/>
              </a:lnSpc>
              <a:buFont typeface="Arial"/>
              <a:buChar char="•"/>
            </a:pPr>
            <a:r>
              <a:rPr lang="en-US" sz="4345">
                <a:solidFill>
                  <a:srgbClr val="000000"/>
                </a:solidFill>
                <a:latin typeface="DM Sans"/>
                <a:ea typeface="DM Sans"/>
                <a:cs typeface="DM Sans"/>
                <a:sym typeface="DM Sans"/>
              </a:rPr>
              <a:t>R²≈0 → No predictive power between the two exams.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3183" y="9121463"/>
            <a:ext cx="136837" cy="13683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4" name="TextBox 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5" name="Group 5"/>
          <p:cNvGrpSpPr/>
          <p:nvPr/>
        </p:nvGrpSpPr>
        <p:grpSpPr>
          <a:xfrm>
            <a:off x="413183" y="8824880"/>
            <a:ext cx="136837" cy="13683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7" name="TextBox 7"/>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8" name="Group 8"/>
          <p:cNvGrpSpPr/>
          <p:nvPr/>
        </p:nvGrpSpPr>
        <p:grpSpPr>
          <a:xfrm>
            <a:off x="413183" y="8528298"/>
            <a:ext cx="136837" cy="1368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0" name="TextBox 10"/>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sp>
        <p:nvSpPr>
          <p:cNvPr id="11" name="TextBox 11"/>
          <p:cNvSpPr txBox="1"/>
          <p:nvPr/>
        </p:nvSpPr>
        <p:spPr>
          <a:xfrm>
            <a:off x="807131" y="693801"/>
            <a:ext cx="3896857" cy="726948"/>
          </a:xfrm>
          <a:prstGeom prst="rect">
            <a:avLst/>
          </a:prstGeom>
        </p:spPr>
        <p:txBody>
          <a:bodyPr lIns="0" tIns="0" rIns="0" bIns="0" rtlCol="0" anchor="t">
            <a:spAutoFit/>
          </a:bodyPr>
          <a:lstStyle/>
          <a:p>
            <a:pPr algn="l">
              <a:lnSpc>
                <a:spcPts val="5615"/>
              </a:lnSpc>
            </a:pPr>
            <a:r>
              <a:rPr lang="en-US" sz="5199" b="1">
                <a:solidFill>
                  <a:srgbClr val="000000"/>
                </a:solidFill>
                <a:latin typeface="DM Sans Bold"/>
                <a:ea typeface="DM Sans Bold"/>
                <a:cs typeface="DM Sans Bold"/>
                <a:sym typeface="DM Sans Bold"/>
              </a:rPr>
              <a:t>Conclusion</a:t>
            </a:r>
          </a:p>
        </p:txBody>
      </p:sp>
      <p:sp>
        <p:nvSpPr>
          <p:cNvPr id="12" name="TextBox 12"/>
          <p:cNvSpPr txBox="1"/>
          <p:nvPr/>
        </p:nvSpPr>
        <p:spPr>
          <a:xfrm>
            <a:off x="550020" y="1600848"/>
            <a:ext cx="16709280" cy="7502487"/>
          </a:xfrm>
          <a:prstGeom prst="rect">
            <a:avLst/>
          </a:prstGeom>
        </p:spPr>
        <p:txBody>
          <a:bodyPr lIns="0" tIns="0" rIns="0" bIns="0" rtlCol="0" anchor="t">
            <a:spAutoFit/>
          </a:bodyPr>
          <a:lstStyle/>
          <a:p>
            <a:pPr marL="776090" lvl="1" indent="-388045" algn="just">
              <a:lnSpc>
                <a:spcPts val="5463"/>
              </a:lnSpc>
              <a:buFont typeface="Arial"/>
              <a:buChar char="•"/>
            </a:pPr>
            <a:r>
              <a:rPr lang="en-US" sz="3594">
                <a:solidFill>
                  <a:srgbClr val="000000"/>
                </a:solidFill>
                <a:latin typeface="DM Sans"/>
                <a:ea typeface="DM Sans"/>
                <a:cs typeface="DM Sans"/>
                <a:sym typeface="DM Sans"/>
              </a:rPr>
              <a:t>UTME remains stable and reliable as the basis for university admission.</a:t>
            </a:r>
          </a:p>
          <a:p>
            <a:pPr marL="776090" lvl="1" indent="-388045" algn="just">
              <a:lnSpc>
                <a:spcPts val="5463"/>
              </a:lnSpc>
              <a:buFont typeface="Arial"/>
              <a:buChar char="•"/>
            </a:pPr>
            <a:r>
              <a:rPr lang="en-US" sz="3594">
                <a:solidFill>
                  <a:srgbClr val="000000"/>
                </a:solidFill>
                <a:latin typeface="DM Sans"/>
                <a:ea typeface="DM Sans"/>
                <a:cs typeface="DM Sans"/>
                <a:sym typeface="DM Sans"/>
              </a:rPr>
              <a:t>The relationship between the same student taking UTME and POST-UTME shows no consistency or correlation.</a:t>
            </a:r>
          </a:p>
          <a:p>
            <a:pPr marL="776090" lvl="1" indent="-388045" algn="just">
              <a:lnSpc>
                <a:spcPts val="5463"/>
              </a:lnSpc>
              <a:buFont typeface="Arial"/>
              <a:buChar char="•"/>
            </a:pPr>
            <a:r>
              <a:rPr lang="en-US" sz="3594">
                <a:solidFill>
                  <a:srgbClr val="000000"/>
                </a:solidFill>
                <a:latin typeface="DM Sans"/>
                <a:ea typeface="DM Sans"/>
                <a:cs typeface="DM Sans"/>
                <a:sym typeface="DM Sans"/>
              </a:rPr>
              <a:t>This proves that POST-UTME, when taken without supervision, is not a reliable test of knowledge.</a:t>
            </a:r>
          </a:p>
          <a:p>
            <a:pPr marL="776090" lvl="1" indent="-388045" algn="just">
              <a:lnSpc>
                <a:spcPts val="5463"/>
              </a:lnSpc>
              <a:buFont typeface="Arial"/>
              <a:buChar char="•"/>
            </a:pPr>
            <a:r>
              <a:rPr lang="en-US" sz="3594">
                <a:solidFill>
                  <a:srgbClr val="000000"/>
                </a:solidFill>
                <a:latin typeface="DM Sans"/>
                <a:ea typeface="DM Sans"/>
                <a:cs typeface="DM Sans"/>
                <a:sym typeface="DM Sans"/>
              </a:rPr>
              <a:t>UTME remains the stronger and more valid exam for measuring academic strength.</a:t>
            </a:r>
          </a:p>
          <a:p>
            <a:pPr marL="776090" lvl="1" indent="-388045" algn="just">
              <a:lnSpc>
                <a:spcPts val="5463"/>
              </a:lnSpc>
              <a:buFont typeface="Arial"/>
              <a:buChar char="•"/>
            </a:pPr>
            <a:r>
              <a:rPr lang="en-US" sz="3594">
                <a:solidFill>
                  <a:srgbClr val="000000"/>
                </a:solidFill>
                <a:latin typeface="DM Sans"/>
                <a:ea typeface="DM Sans"/>
                <a:cs typeface="DM Sans"/>
                <a:sym typeface="DM Sans"/>
              </a:rPr>
              <a:t>The influence each exam (UTME vs POST-UTME) has on admission for a 4-year dataset in Computer Science and a 5-year dataset in Electrical Engineering is </a:t>
            </a:r>
            <a:r>
              <a:rPr lang="en-US" sz="3594" b="1">
                <a:solidFill>
                  <a:srgbClr val="000000"/>
                </a:solidFill>
                <a:latin typeface="DM Sans Bold"/>
                <a:ea typeface="DM Sans Bold"/>
                <a:cs typeface="DM Sans Bold"/>
                <a:sym typeface="DM Sans Bold"/>
              </a:rPr>
              <a:t>HEAVILY ON THE SIDE OF POST-UTME, AS SEEN IN THE PREVIOUS CHART.</a:t>
            </a:r>
          </a:p>
        </p:txBody>
      </p:sp>
      <p:grpSp>
        <p:nvGrpSpPr>
          <p:cNvPr id="15" name="Group 15"/>
          <p:cNvGrpSpPr/>
          <p:nvPr/>
        </p:nvGrpSpPr>
        <p:grpSpPr>
          <a:xfrm>
            <a:off x="276346" y="975621"/>
            <a:ext cx="136837" cy="730002"/>
            <a:chOff x="0" y="0"/>
            <a:chExt cx="182450" cy="973336"/>
          </a:xfrm>
        </p:grpSpPr>
        <p:grpSp>
          <p:nvGrpSpPr>
            <p:cNvPr id="16" name="Group 16"/>
            <p:cNvGrpSpPr/>
            <p:nvPr/>
          </p:nvGrpSpPr>
          <p:grpSpPr>
            <a:xfrm>
              <a:off x="0" y="790886"/>
              <a:ext cx="182450" cy="1824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8" name="TextBox 18"/>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19" name="Group 19"/>
            <p:cNvGrpSpPr/>
            <p:nvPr/>
          </p:nvGrpSpPr>
          <p:grpSpPr>
            <a:xfrm>
              <a:off x="0" y="395443"/>
              <a:ext cx="182450" cy="18245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1" name="TextBox 21"/>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22" name="Group 22"/>
            <p:cNvGrpSpPr/>
            <p:nvPr/>
          </p:nvGrpSpPr>
          <p:grpSpPr>
            <a:xfrm>
              <a:off x="0" y="0"/>
              <a:ext cx="182450" cy="18245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4" name="TextBox 24"/>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spTree>
  </p:cSld>
  <p:clrMapOvr>
    <a:masterClrMapping/>
  </p:clrMapOvr>
  <p:transition spd="slow">
    <p:cover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3183" y="8528298"/>
            <a:ext cx="136837" cy="730002"/>
            <a:chOff x="0" y="0"/>
            <a:chExt cx="182450" cy="973336"/>
          </a:xfrm>
        </p:grpSpPr>
        <p:grpSp>
          <p:nvGrpSpPr>
            <p:cNvPr id="3" name="Group 3"/>
            <p:cNvGrpSpPr/>
            <p:nvPr/>
          </p:nvGrpSpPr>
          <p:grpSpPr>
            <a:xfrm>
              <a:off x="0" y="790886"/>
              <a:ext cx="182450" cy="18245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5" name="TextBox 5"/>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6" name="Group 6"/>
            <p:cNvGrpSpPr/>
            <p:nvPr/>
          </p:nvGrpSpPr>
          <p:grpSpPr>
            <a:xfrm>
              <a:off x="0" y="395443"/>
              <a:ext cx="182450" cy="18245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9" name="Group 9"/>
            <p:cNvGrpSpPr/>
            <p:nvPr/>
          </p:nvGrpSpPr>
          <p:grpSpPr>
            <a:xfrm>
              <a:off x="0" y="0"/>
              <a:ext cx="182450" cy="18245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1" name="TextBox 11"/>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grpSp>
        <p:nvGrpSpPr>
          <p:cNvPr id="15" name="Group 15"/>
          <p:cNvGrpSpPr/>
          <p:nvPr/>
        </p:nvGrpSpPr>
        <p:grpSpPr>
          <a:xfrm>
            <a:off x="550020" y="805448"/>
            <a:ext cx="1244203" cy="103966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17" name="TextBox 17"/>
            <p:cNvSpPr txBox="1"/>
            <p:nvPr/>
          </p:nvSpPr>
          <p:spPr>
            <a:xfrm>
              <a:off x="76200" y="-19050"/>
              <a:ext cx="660400" cy="755650"/>
            </a:xfrm>
            <a:prstGeom prst="rect">
              <a:avLst/>
            </a:prstGeom>
          </p:spPr>
          <p:txBody>
            <a:bodyPr lIns="32547" tIns="32547" rIns="32547" bIns="32547" rtlCol="0" anchor="ctr"/>
            <a:lstStyle/>
            <a:p>
              <a:pPr algn="ctr">
                <a:lnSpc>
                  <a:spcPts val="3401"/>
                </a:lnSpc>
              </a:pPr>
              <a:endParaRPr/>
            </a:p>
          </p:txBody>
        </p:sp>
      </p:grpSp>
      <p:sp>
        <p:nvSpPr>
          <p:cNvPr id="21" name="TextBox 21"/>
          <p:cNvSpPr txBox="1"/>
          <p:nvPr/>
        </p:nvSpPr>
        <p:spPr>
          <a:xfrm>
            <a:off x="838784" y="1865540"/>
            <a:ext cx="16552674" cy="8560557"/>
          </a:xfrm>
          <a:prstGeom prst="rect">
            <a:avLst/>
          </a:prstGeom>
        </p:spPr>
        <p:txBody>
          <a:bodyPr lIns="0" tIns="0" rIns="0" bIns="0" rtlCol="0" anchor="t">
            <a:spAutoFit/>
          </a:bodyPr>
          <a:lstStyle/>
          <a:p>
            <a:pPr marL="1063976" lvl="1" indent="-531988" algn="l">
              <a:lnSpc>
                <a:spcPts val="7589"/>
              </a:lnSpc>
              <a:buFont typeface="Arial"/>
              <a:buChar char="•"/>
            </a:pPr>
            <a:r>
              <a:rPr lang="en-US" sz="4928" dirty="0">
                <a:solidFill>
                  <a:srgbClr val="000000"/>
                </a:solidFill>
                <a:latin typeface="DM Sans"/>
                <a:ea typeface="DM Sans"/>
                <a:cs typeface="DM Sans"/>
                <a:sym typeface="DM Sans"/>
              </a:rPr>
              <a:t>Full Screen Recording</a:t>
            </a:r>
          </a:p>
          <a:p>
            <a:pPr marL="1063976" lvl="1" indent="-531988" algn="l">
              <a:lnSpc>
                <a:spcPts val="7589"/>
              </a:lnSpc>
              <a:buFont typeface="Arial"/>
              <a:buChar char="•"/>
            </a:pPr>
            <a:r>
              <a:rPr lang="en-US" sz="4928" dirty="0">
                <a:solidFill>
                  <a:srgbClr val="000000"/>
                </a:solidFill>
                <a:latin typeface="DM Sans"/>
                <a:ea typeface="DM Sans"/>
                <a:cs typeface="DM Sans"/>
                <a:sym typeface="DM Sans"/>
              </a:rPr>
              <a:t>Mandatory webcam proctoring</a:t>
            </a:r>
          </a:p>
          <a:p>
            <a:pPr marL="2127952" lvl="2" indent="-709317" algn="l">
              <a:lnSpc>
                <a:spcPts val="7589"/>
              </a:lnSpc>
              <a:buFont typeface="Arial"/>
              <a:buChar char="⚬"/>
            </a:pPr>
            <a:r>
              <a:rPr lang="en-US" sz="4928" dirty="0">
                <a:solidFill>
                  <a:srgbClr val="000000"/>
                </a:solidFill>
                <a:latin typeface="DM Sans"/>
                <a:ea typeface="DM Sans"/>
                <a:cs typeface="DM Sans"/>
                <a:sym typeface="DM Sans"/>
              </a:rPr>
              <a:t>Verify identity</a:t>
            </a:r>
          </a:p>
          <a:p>
            <a:pPr marL="2127952" lvl="2" indent="-709317" algn="l">
              <a:lnSpc>
                <a:spcPts val="7589"/>
              </a:lnSpc>
              <a:buFont typeface="Arial"/>
              <a:buChar char="⚬"/>
            </a:pPr>
            <a:r>
              <a:rPr lang="en-US" sz="4928" dirty="0">
                <a:solidFill>
                  <a:srgbClr val="000000"/>
                </a:solidFill>
                <a:latin typeface="DM Sans"/>
                <a:ea typeface="DM Sans"/>
                <a:cs typeface="DM Sans"/>
                <a:sym typeface="DM Sans"/>
              </a:rPr>
              <a:t>Monitor behavior</a:t>
            </a:r>
          </a:p>
          <a:p>
            <a:pPr marL="1063976" lvl="1" indent="-531988" algn="l">
              <a:lnSpc>
                <a:spcPts val="7589"/>
              </a:lnSpc>
              <a:buFont typeface="Arial"/>
              <a:buChar char="•"/>
            </a:pPr>
            <a:r>
              <a:rPr lang="en-US" sz="4928" dirty="0">
                <a:solidFill>
                  <a:srgbClr val="000000"/>
                </a:solidFill>
                <a:latin typeface="DM Sans"/>
                <a:ea typeface="DM Sans"/>
                <a:cs typeface="DM Sans"/>
                <a:sym typeface="DM Sans"/>
              </a:rPr>
              <a:t>Keystroke behavior tracking</a:t>
            </a:r>
          </a:p>
          <a:p>
            <a:pPr marL="1063976" lvl="1" indent="-531988" algn="l">
              <a:lnSpc>
                <a:spcPts val="7589"/>
              </a:lnSpc>
              <a:buFont typeface="Arial"/>
              <a:buChar char="•"/>
            </a:pPr>
            <a:r>
              <a:rPr lang="en-US" sz="4928" dirty="0">
                <a:solidFill>
                  <a:srgbClr val="000000"/>
                </a:solidFill>
                <a:latin typeface="DM Sans"/>
                <a:ea typeface="DM Sans"/>
                <a:cs typeface="DM Sans"/>
                <a:sym typeface="DM Sans"/>
              </a:rPr>
              <a:t>Move exam to supervised CBT centers</a:t>
            </a:r>
          </a:p>
          <a:p>
            <a:pPr algn="l">
              <a:lnSpc>
                <a:spcPts val="7589"/>
              </a:lnSpc>
            </a:pPr>
            <a:r>
              <a:rPr lang="en-US" sz="4928" dirty="0">
                <a:solidFill>
                  <a:srgbClr val="000000"/>
                </a:solidFill>
                <a:latin typeface="DM Sans"/>
                <a:ea typeface="DM Sans"/>
                <a:cs typeface="DM Sans"/>
                <a:sym typeface="DM Sans"/>
              </a:rPr>
              <a:t> </a:t>
            </a:r>
          </a:p>
          <a:p>
            <a:pPr algn="l">
              <a:lnSpc>
                <a:spcPts val="7589"/>
              </a:lnSpc>
            </a:pPr>
            <a:endParaRPr lang="en-US" sz="4928" dirty="0">
              <a:solidFill>
                <a:srgbClr val="000000"/>
              </a:solidFill>
              <a:latin typeface="DM Sans"/>
              <a:ea typeface="DM Sans"/>
              <a:cs typeface="DM Sans"/>
              <a:sym typeface="DM Sans"/>
            </a:endParaRPr>
          </a:p>
          <a:p>
            <a:pPr algn="l">
              <a:lnSpc>
                <a:spcPts val="7589"/>
              </a:lnSpc>
            </a:pPr>
            <a:r>
              <a:rPr lang="en-US" sz="4928" dirty="0">
                <a:solidFill>
                  <a:srgbClr val="000000"/>
                </a:solidFill>
                <a:latin typeface="DM Sans"/>
                <a:ea typeface="DM Sans"/>
                <a:cs typeface="DM Sans"/>
                <a:sym typeface="DM Sans"/>
              </a:rPr>
              <a:t> </a:t>
            </a:r>
          </a:p>
        </p:txBody>
      </p:sp>
      <p:sp>
        <p:nvSpPr>
          <p:cNvPr id="12" name="TextBox 12"/>
          <p:cNvSpPr txBox="1"/>
          <p:nvPr/>
        </p:nvSpPr>
        <p:spPr>
          <a:xfrm>
            <a:off x="1028700" y="1196496"/>
            <a:ext cx="6902019" cy="726948"/>
          </a:xfrm>
          <a:prstGeom prst="rect">
            <a:avLst/>
          </a:prstGeom>
        </p:spPr>
        <p:txBody>
          <a:bodyPr lIns="0" tIns="0" rIns="0" bIns="0" rtlCol="0" anchor="t">
            <a:spAutoFit/>
          </a:bodyPr>
          <a:lstStyle/>
          <a:p>
            <a:pPr algn="l">
              <a:lnSpc>
                <a:spcPts val="5615"/>
              </a:lnSpc>
            </a:pPr>
            <a:r>
              <a:rPr lang="en-US" sz="5199" b="1" dirty="0">
                <a:solidFill>
                  <a:srgbClr val="000000"/>
                </a:solidFill>
                <a:latin typeface="DM Sans Bold"/>
                <a:ea typeface="DM Sans Bold"/>
                <a:cs typeface="DM Sans Bold"/>
                <a:sym typeface="DM Sans Bold"/>
              </a:rPr>
              <a:t>RECOMMENDATION</a:t>
            </a:r>
          </a:p>
        </p:txBody>
      </p:sp>
    </p:spTree>
  </p:cSld>
  <p:clrMapOvr>
    <a:masterClrMapping/>
  </p:clrMapOvr>
  <p:transition spd="slow">
    <p:cover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10304" y="3014380"/>
            <a:ext cx="214930" cy="216486"/>
            <a:chOff x="0" y="0"/>
            <a:chExt cx="286574" cy="288648"/>
          </a:xfrm>
        </p:grpSpPr>
        <p:grpSp>
          <p:nvGrpSpPr>
            <p:cNvPr id="3" name="Group 3"/>
            <p:cNvGrpSpPr/>
            <p:nvPr/>
          </p:nvGrpSpPr>
          <p:grpSpPr>
            <a:xfrm>
              <a:off x="0" y="0"/>
              <a:ext cx="112358" cy="112358"/>
              <a:chOff x="0" y="0"/>
              <a:chExt cx="67656" cy="67656"/>
            </a:xfrm>
          </p:grpSpPr>
          <p:sp>
            <p:nvSpPr>
              <p:cNvPr id="4" name="Freeform 4"/>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5" name="TextBox 5"/>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6" name="Group 6"/>
            <p:cNvGrpSpPr/>
            <p:nvPr/>
          </p:nvGrpSpPr>
          <p:grpSpPr>
            <a:xfrm>
              <a:off x="0" y="176290"/>
              <a:ext cx="112358" cy="112358"/>
              <a:chOff x="0" y="0"/>
              <a:chExt cx="67656" cy="67656"/>
            </a:xfrm>
          </p:grpSpPr>
          <p:sp>
            <p:nvSpPr>
              <p:cNvPr id="7" name="Freeform 7"/>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8" name="TextBox 8"/>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9" name="Group 9"/>
            <p:cNvGrpSpPr/>
            <p:nvPr/>
          </p:nvGrpSpPr>
          <p:grpSpPr>
            <a:xfrm>
              <a:off x="174216" y="0"/>
              <a:ext cx="112358" cy="112358"/>
              <a:chOff x="0" y="0"/>
              <a:chExt cx="67656" cy="67656"/>
            </a:xfrm>
          </p:grpSpPr>
          <p:sp>
            <p:nvSpPr>
              <p:cNvPr id="10" name="Freeform 10"/>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11" name="TextBox 11"/>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nvGrpSpPr>
            <p:cNvPr id="12" name="Group 12"/>
            <p:cNvGrpSpPr/>
            <p:nvPr/>
          </p:nvGrpSpPr>
          <p:grpSpPr>
            <a:xfrm>
              <a:off x="174216" y="176290"/>
              <a:ext cx="112358" cy="112358"/>
              <a:chOff x="0" y="0"/>
              <a:chExt cx="67656" cy="67656"/>
            </a:xfrm>
          </p:grpSpPr>
          <p:sp>
            <p:nvSpPr>
              <p:cNvPr id="13" name="Freeform 13"/>
              <p:cNvSpPr/>
              <p:nvPr/>
            </p:nvSpPr>
            <p:spPr>
              <a:xfrm>
                <a:off x="0" y="0"/>
                <a:ext cx="67656" cy="67656"/>
              </a:xfrm>
              <a:custGeom>
                <a:avLst/>
                <a:gdLst/>
                <a:ahLst/>
                <a:cxnLst/>
                <a:rect l="l" t="t" r="r" b="b"/>
                <a:pathLst>
                  <a:path w="67656" h="67656">
                    <a:moveTo>
                      <a:pt x="33828" y="0"/>
                    </a:moveTo>
                    <a:lnTo>
                      <a:pt x="33828" y="0"/>
                    </a:lnTo>
                    <a:cubicBezTo>
                      <a:pt x="42800" y="0"/>
                      <a:pt x="51404" y="3564"/>
                      <a:pt x="57748" y="9908"/>
                    </a:cubicBezTo>
                    <a:cubicBezTo>
                      <a:pt x="64092" y="16252"/>
                      <a:pt x="67656" y="24856"/>
                      <a:pt x="67656" y="33828"/>
                    </a:cubicBezTo>
                    <a:lnTo>
                      <a:pt x="67656" y="33828"/>
                    </a:lnTo>
                    <a:cubicBezTo>
                      <a:pt x="67656" y="42800"/>
                      <a:pt x="64092" y="51404"/>
                      <a:pt x="57748" y="57748"/>
                    </a:cubicBezTo>
                    <a:cubicBezTo>
                      <a:pt x="51404" y="64092"/>
                      <a:pt x="42800" y="67656"/>
                      <a:pt x="33828" y="67656"/>
                    </a:cubicBezTo>
                    <a:lnTo>
                      <a:pt x="33828" y="67656"/>
                    </a:lnTo>
                    <a:cubicBezTo>
                      <a:pt x="24856" y="67656"/>
                      <a:pt x="16252" y="64092"/>
                      <a:pt x="9908" y="57748"/>
                    </a:cubicBezTo>
                    <a:cubicBezTo>
                      <a:pt x="3564" y="51404"/>
                      <a:pt x="0" y="42800"/>
                      <a:pt x="0" y="33828"/>
                    </a:cubicBezTo>
                    <a:lnTo>
                      <a:pt x="0" y="33828"/>
                    </a:lnTo>
                    <a:cubicBezTo>
                      <a:pt x="0" y="24856"/>
                      <a:pt x="3564" y="16252"/>
                      <a:pt x="9908" y="9908"/>
                    </a:cubicBezTo>
                    <a:cubicBezTo>
                      <a:pt x="16252" y="3564"/>
                      <a:pt x="24856" y="0"/>
                      <a:pt x="33828" y="0"/>
                    </a:cubicBezTo>
                    <a:close/>
                  </a:path>
                </a:pathLst>
              </a:custGeom>
              <a:solidFill>
                <a:srgbClr val="FF6937"/>
              </a:solidFill>
            </p:spPr>
          </p:sp>
          <p:sp>
            <p:nvSpPr>
              <p:cNvPr id="14" name="TextBox 14"/>
              <p:cNvSpPr txBox="1"/>
              <p:nvPr/>
            </p:nvSpPr>
            <p:spPr>
              <a:xfrm>
                <a:off x="0" y="-95250"/>
                <a:ext cx="67656" cy="162906"/>
              </a:xfrm>
              <a:prstGeom prst="rect">
                <a:avLst/>
              </a:prstGeom>
            </p:spPr>
            <p:txBody>
              <a:bodyPr lIns="29283" tIns="29283" rIns="29283" bIns="29283" rtlCol="0" anchor="ctr"/>
              <a:lstStyle/>
              <a:p>
                <a:pPr algn="ctr">
                  <a:lnSpc>
                    <a:spcPts val="3401"/>
                  </a:lnSpc>
                </a:pPr>
                <a:endParaRPr/>
              </a:p>
            </p:txBody>
          </p:sp>
        </p:grpSp>
      </p:grpSp>
      <p:grpSp>
        <p:nvGrpSpPr>
          <p:cNvPr id="21" name="Group 21"/>
          <p:cNvGrpSpPr/>
          <p:nvPr/>
        </p:nvGrpSpPr>
        <p:grpSpPr>
          <a:xfrm>
            <a:off x="413183" y="9121463"/>
            <a:ext cx="136837" cy="13683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3" name="TextBox 23"/>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24" name="Group 24"/>
          <p:cNvGrpSpPr/>
          <p:nvPr/>
        </p:nvGrpSpPr>
        <p:grpSpPr>
          <a:xfrm>
            <a:off x="413183" y="8824880"/>
            <a:ext cx="136837" cy="13683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6" name="TextBox 26"/>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grpSp>
        <p:nvGrpSpPr>
          <p:cNvPr id="27" name="Group 27"/>
          <p:cNvGrpSpPr/>
          <p:nvPr/>
        </p:nvGrpSpPr>
        <p:grpSpPr>
          <a:xfrm>
            <a:off x="413183" y="8528298"/>
            <a:ext cx="136837" cy="13683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6937"/>
            </a:solidFill>
          </p:spPr>
        </p:sp>
        <p:sp>
          <p:nvSpPr>
            <p:cNvPr id="29" name="TextBox 29"/>
            <p:cNvSpPr txBox="1"/>
            <p:nvPr/>
          </p:nvSpPr>
          <p:spPr>
            <a:xfrm>
              <a:off x="76200" y="-19050"/>
              <a:ext cx="660400" cy="755650"/>
            </a:xfrm>
            <a:prstGeom prst="rect">
              <a:avLst/>
            </a:prstGeom>
          </p:spPr>
          <p:txBody>
            <a:bodyPr lIns="50800" tIns="50800" rIns="50800" bIns="50800" rtlCol="0" anchor="ctr"/>
            <a:lstStyle/>
            <a:p>
              <a:pPr algn="ctr">
                <a:lnSpc>
                  <a:spcPts val="3401"/>
                </a:lnSpc>
              </a:pPr>
              <a:endParaRPr/>
            </a:p>
          </p:txBody>
        </p:sp>
      </p:grpSp>
      <p:sp>
        <p:nvSpPr>
          <p:cNvPr id="30" name="TextBox 30"/>
          <p:cNvSpPr txBox="1"/>
          <p:nvPr/>
        </p:nvSpPr>
        <p:spPr>
          <a:xfrm>
            <a:off x="1610304" y="5216952"/>
            <a:ext cx="8158449" cy="3980490"/>
          </a:xfrm>
          <a:prstGeom prst="rect">
            <a:avLst/>
          </a:prstGeom>
        </p:spPr>
        <p:txBody>
          <a:bodyPr lIns="0" tIns="0" rIns="0" bIns="0" rtlCol="0" anchor="t">
            <a:spAutoFit/>
          </a:bodyPr>
          <a:lstStyle/>
          <a:p>
            <a:pPr algn="l">
              <a:lnSpc>
                <a:spcPts val="15456"/>
              </a:lnSpc>
            </a:pPr>
            <a:r>
              <a:rPr lang="en-US" sz="14312" b="1">
                <a:solidFill>
                  <a:srgbClr val="000000"/>
                </a:solidFill>
                <a:latin typeface="DM Sans Bold"/>
                <a:ea typeface="DM Sans Bold"/>
                <a:cs typeface="DM Sans Bold"/>
                <a:sym typeface="DM Sans Bold"/>
              </a:rPr>
              <a:t>Thank </a:t>
            </a:r>
          </a:p>
          <a:p>
            <a:pPr algn="ctr">
              <a:lnSpc>
                <a:spcPts val="15456"/>
              </a:lnSpc>
            </a:pPr>
            <a:r>
              <a:rPr lang="en-US" sz="14312" b="1">
                <a:solidFill>
                  <a:srgbClr val="000000"/>
                </a:solidFill>
                <a:latin typeface="DM Sans Bold"/>
                <a:ea typeface="DM Sans Bold"/>
                <a:cs typeface="DM Sans Bold"/>
                <a:sym typeface="DM Sans Bold"/>
              </a:rPr>
              <a:t>you </a:t>
            </a:r>
          </a:p>
        </p:txBody>
      </p:sp>
      <p:grpSp>
        <p:nvGrpSpPr>
          <p:cNvPr id="31" name="Group 11">
            <a:extLst>
              <a:ext uri="{FF2B5EF4-FFF2-40B4-BE49-F238E27FC236}">
                <a16:creationId xmlns:a16="http://schemas.microsoft.com/office/drawing/2014/main" id="{C31B1E83-8E26-E10C-EF67-BB2C43F5196D}"/>
              </a:ext>
            </a:extLst>
          </p:cNvPr>
          <p:cNvGrpSpPr/>
          <p:nvPr/>
        </p:nvGrpSpPr>
        <p:grpSpPr>
          <a:xfrm>
            <a:off x="11125200" y="815027"/>
            <a:ext cx="6260913" cy="8656945"/>
            <a:chOff x="0" y="0"/>
            <a:chExt cx="587837" cy="812800"/>
          </a:xfrm>
        </p:grpSpPr>
        <p:sp>
          <p:nvSpPr>
            <p:cNvPr id="32" name="Freeform 12">
              <a:extLst>
                <a:ext uri="{FF2B5EF4-FFF2-40B4-BE49-F238E27FC236}">
                  <a16:creationId xmlns:a16="http://schemas.microsoft.com/office/drawing/2014/main" id="{B97B4137-EF2B-BD87-C15C-FAE092E60EE8}"/>
                </a:ext>
              </a:extLst>
            </p:cNvPr>
            <p:cNvSpPr/>
            <p:nvPr/>
          </p:nvSpPr>
          <p:spPr>
            <a:xfrm>
              <a:off x="0" y="0"/>
              <a:ext cx="587837" cy="812800"/>
            </a:xfrm>
            <a:custGeom>
              <a:avLst/>
              <a:gdLst/>
              <a:ahLst/>
              <a:cxnLst/>
              <a:rect l="l" t="t" r="r" b="b"/>
              <a:pathLst>
                <a:path w="587837" h="812800">
                  <a:moveTo>
                    <a:pt x="293918" y="0"/>
                  </a:moveTo>
                  <a:cubicBezTo>
                    <a:pt x="131592" y="0"/>
                    <a:pt x="0" y="181951"/>
                    <a:pt x="0" y="406400"/>
                  </a:cubicBezTo>
                  <a:cubicBezTo>
                    <a:pt x="0" y="630849"/>
                    <a:pt x="131592" y="812800"/>
                    <a:pt x="293918" y="812800"/>
                  </a:cubicBezTo>
                  <a:cubicBezTo>
                    <a:pt x="456245" y="812800"/>
                    <a:pt x="587837" y="630849"/>
                    <a:pt x="587837" y="406400"/>
                  </a:cubicBezTo>
                  <a:cubicBezTo>
                    <a:pt x="587837" y="181951"/>
                    <a:pt x="456245" y="0"/>
                    <a:pt x="293918" y="0"/>
                  </a:cubicBezTo>
                  <a:close/>
                </a:path>
              </a:pathLst>
            </a:custGeom>
            <a:blipFill>
              <a:blip r:embed="rId2"/>
              <a:stretch>
                <a:fillRect l="-33006" r="-33006"/>
              </a:stretch>
            </a:blipFill>
          </p:spPr>
        </p:sp>
      </p:grpSp>
    </p:spTree>
  </p:cSld>
  <p:clrMapOvr>
    <a:masterClrMapping/>
  </p:clrMapOvr>
  <p:transition spd="slow">
    <p:cover dir="l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1024</Words>
  <Application>Microsoft Office PowerPoint</Application>
  <PresentationFormat>Custom</PresentationFormat>
  <Paragraphs>142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DM Sans Bold Italics</vt:lpstr>
      <vt:lpstr>Calibri</vt:lpstr>
      <vt:lpstr>DM Sans Bold</vt:lpstr>
      <vt:lpstr>Arial</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UTME vs PTUME EXAM</dc:title>
  <cp:lastModifiedBy>ChiefIT</cp:lastModifiedBy>
  <cp:revision>5</cp:revision>
  <dcterms:created xsi:type="dcterms:W3CDTF">2006-08-16T00:00:00Z</dcterms:created>
  <dcterms:modified xsi:type="dcterms:W3CDTF">2025-12-08T19:23:26Z</dcterms:modified>
  <dc:identifier>DAG517a-ZIE</dc:identifier>
</cp:coreProperties>
</file>